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1715452" y="2400448"/>
            <a:ext cx="8761095" cy="1340941"/>
          </a:xfrm>
          <a:prstGeom prst="rect">
            <a:avLst/>
          </a:prstGeom>
          <a:noFill/>
        </p:spPr>
        <p:txBody>
          <a:bodyPr wrap="square" lIns="0" rIns="0" tIns="0" bIns="0" anchor="t">
            <a:spAutoFit/>
          </a:bodyPr>
          <a:lstStyle/>
          <a:p>
            <a:pPr algn="ctr">
              <a:lnSpc>
                <a:spcPts val="5280"/>
              </a:lnSpc>
            </a:pPr>
            <a:r>
              <a:rPr b="1" sz="4800" i="0" u="none">
                <a:solidFill>
                  <a:srgbClr val="F8FAFC"/>
                </a:solidFill>
                <a:latin typeface="Fira Code"/>
              </a:rPr>
              <a:t>LLM Inference &amp; </a:t>
            </a:r>
            <a:r>
              <a:t>
</a:t>
            </a:r>
            <a:r>
              <a:rPr b="1" sz="4800" i="0" u="none">
                <a:solidFill>
                  <a:srgbClr val="10B981"/>
                </a:solidFill>
                <a:latin typeface="Fira Code"/>
              </a:rPr>
              <a:t>Prompt Caching</a:t>
            </a:r>
          </a:p>
        </p:txBody>
      </p:sp>
      <p:sp>
        <p:nvSpPr>
          <p:cNvPr id="3" name="TextBox 2"/>
          <p:cNvSpPr txBox="1"/>
          <p:nvPr/>
        </p:nvSpPr>
        <p:spPr>
          <a:xfrm>
            <a:off x="1924050" y="3931890"/>
            <a:ext cx="8343900" cy="335160"/>
          </a:xfrm>
          <a:prstGeom prst="rect">
            <a:avLst/>
          </a:prstGeom>
          <a:noFill/>
        </p:spPr>
        <p:txBody>
          <a:bodyPr wrap="square" lIns="0" rIns="0" tIns="0" bIns="0" anchor="t">
            <a:spAutoFit/>
          </a:bodyPr>
          <a:lstStyle/>
          <a:p>
            <a:pPr algn="ctr">
              <a:lnSpc>
                <a:spcPts val="2640"/>
              </a:lnSpc>
            </a:pPr>
            <a:r>
              <a:rPr b="0" sz="1650" i="0" u="none">
                <a:solidFill>
                  <a:srgbClr val="94A3B8"/>
                </a:solidFill>
                <a:latin typeface="Inter"/>
              </a:rPr>
              <a:t>A visual architecture guide to Context Windows, KV Cache, and AI Agent Economics.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334125" y="1371600"/>
            <a:ext cx="5372100" cy="3810000"/>
          </a:xfrm>
          <a:prstGeom prst="rect">
            <a:avLst/>
          </a:prstGeom>
        </p:spPr>
      </p:pic>
      <p:sp>
        <p:nvSpPr>
          <p:cNvPr id="3" name="TextBox 2"/>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The Stateless Reality</a:t>
            </a:r>
          </a:p>
        </p:txBody>
      </p:sp>
      <p:sp>
        <p:nvSpPr>
          <p:cNvPr id="4" name="TextBox 3"/>
          <p:cNvSpPr txBox="1"/>
          <p:nvPr/>
        </p:nvSpPr>
        <p:spPr>
          <a:xfrm>
            <a:off x="723900" y="1371600"/>
            <a:ext cx="5133975" cy="82287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No Built-In Memory:</a:t>
            </a:r>
            <a:r>
              <a:rPr b="0" sz="1350" i="0" u="none">
                <a:solidFill>
                  <a:srgbClr val="CBD5E1"/>
                </a:solidFill>
                <a:latin typeface="Inter"/>
              </a:rPr>
              <a:t> AI Models (like Claude or GPT-4) have no internal memory between API calls. They are completely stateless.</a:t>
            </a:r>
          </a:p>
        </p:txBody>
      </p:sp>
      <p:sp>
        <p:nvSpPr>
          <p:cNvPr id="5" name="TextBox 4"/>
          <p:cNvSpPr txBox="1"/>
          <p:nvPr/>
        </p:nvSpPr>
        <p:spPr>
          <a:xfrm>
            <a:off x="723900" y="2337345"/>
            <a:ext cx="5133975" cy="82287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The Massive Payload:</a:t>
            </a:r>
            <a:r>
              <a:rPr b="0" sz="1350" i="0" u="none">
                <a:solidFill>
                  <a:srgbClr val="CBD5E1"/>
                </a:solidFill>
                <a:latin typeface="Inter"/>
              </a:rPr>
              <a:t> Because of this, an AI agent application must package the </a:t>
            </a:r>
            <a:r>
              <a:rPr b="0" sz="1350" i="1" u="none">
                <a:solidFill>
                  <a:srgbClr val="CBD5E1"/>
                </a:solidFill>
                <a:latin typeface="Inter"/>
              </a:rPr>
              <a:t>entire conversation history</a:t>
            </a:r>
            <a:r>
              <a:rPr b="0" sz="1350" i="0" u="none">
                <a:solidFill>
                  <a:srgbClr val="CBD5E1"/>
                </a:solidFill>
                <a:latin typeface="Inter"/>
              </a:rPr>
              <a:t> and send it over the internet every single time you hit enter.</a:t>
            </a:r>
          </a:p>
        </p:txBody>
      </p:sp>
      <p:sp>
        <p:nvSpPr>
          <p:cNvPr id="6" name="TextBox 5"/>
          <p:cNvSpPr txBox="1"/>
          <p:nvPr/>
        </p:nvSpPr>
        <p:spPr>
          <a:xfrm>
            <a:off x="723900" y="3303091"/>
            <a:ext cx="5133975" cy="82287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Top-to-Bottom Processing:</a:t>
            </a:r>
            <a:r>
              <a:rPr b="0" sz="1350" i="0" u="none">
                <a:solidFill>
                  <a:srgbClr val="CBD5E1"/>
                </a:solidFill>
                <a:latin typeface="Inter"/>
              </a:rPr>
              <a:t> The LLM processes this massive text payload chronologically to establish mathematical relationships between words.</a:t>
            </a:r>
          </a:p>
        </p:txBody>
      </p:sp>
      <p:sp>
        <p:nvSpPr>
          <p:cNvPr id="7" name="TextBox 6"/>
          <p:cNvSpPr txBox="1"/>
          <p:nvPr/>
        </p:nvSpPr>
        <p:spPr>
          <a:xfrm>
            <a:off x="723900" y="4268837"/>
            <a:ext cx="5133975" cy="82287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The Cost Problem:</a:t>
            </a:r>
            <a:r>
              <a:rPr b="0" sz="1350" i="0" u="none">
                <a:solidFill>
                  <a:srgbClr val="CBD5E1"/>
                </a:solidFill>
                <a:latin typeface="Inter"/>
              </a:rPr>
              <a:t> Without caching, developers pay full price for the model to re-read the exact same massive System Rules file on every single turn.</a:t>
            </a:r>
          </a:p>
        </p:txBody>
      </p:sp>
      <p:pic>
        <p:nvPicPr>
          <p:cNvPr id="8" name="Picture 7" descr="image.png"/>
          <p:cNvPicPr>
            <a:picLocks noChangeAspect="1"/>
          </p:cNvPicPr>
          <p:nvPr/>
        </p:nvPicPr>
        <p:blipFill>
          <a:blip r:embed="rId3"/>
          <a:stretch>
            <a:fillRect/>
          </a:stretch>
        </p:blipFill>
        <p:spPr>
          <a:xfrm>
            <a:off x="6343650" y="1381125"/>
            <a:ext cx="5353050" cy="3790950"/>
          </a:xfrm>
          <a:prstGeom prst="rect">
            <a:avLst/>
          </a:prstGeom>
        </p:spPr>
      </p:pic>
      <p:sp>
        <p:nvSpPr>
          <p:cNvPr id="9" name="TextBox 8"/>
          <p:cNvSpPr txBox="1"/>
          <p:nvPr/>
        </p:nvSpPr>
        <p:spPr>
          <a:xfrm>
            <a:off x="485775" y="1371600"/>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0" name="TextBox 9"/>
          <p:cNvSpPr txBox="1"/>
          <p:nvPr/>
        </p:nvSpPr>
        <p:spPr>
          <a:xfrm>
            <a:off x="485775" y="2337345"/>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1" name="TextBox 10"/>
          <p:cNvSpPr txBox="1"/>
          <p:nvPr/>
        </p:nvSpPr>
        <p:spPr>
          <a:xfrm>
            <a:off x="485775" y="3303091"/>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2" name="TextBox 11"/>
          <p:cNvSpPr txBox="1"/>
          <p:nvPr/>
        </p:nvSpPr>
        <p:spPr>
          <a:xfrm>
            <a:off x="485775" y="4268837"/>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85775" y="1371600"/>
            <a:ext cx="5372100" cy="5000625"/>
          </a:xfrm>
          <a:prstGeom prst="rect">
            <a:avLst/>
          </a:prstGeom>
        </p:spPr>
      </p:pic>
      <p:pic>
        <p:nvPicPr>
          <p:cNvPr id="3" name="Picture 2" descr="image.png"/>
          <p:cNvPicPr>
            <a:picLocks noChangeAspect="1"/>
          </p:cNvPicPr>
          <p:nvPr/>
        </p:nvPicPr>
        <p:blipFill>
          <a:blip r:embed="rId3"/>
          <a:stretch>
            <a:fillRect/>
          </a:stretch>
        </p:blipFill>
        <p:spPr>
          <a:xfrm>
            <a:off x="6334125" y="1371600"/>
            <a:ext cx="5372100" cy="5000625"/>
          </a:xfrm>
          <a:prstGeom prst="rect">
            <a:avLst/>
          </a:prstGeom>
        </p:spPr>
      </p:pic>
      <p:pic>
        <p:nvPicPr>
          <p:cNvPr id="4" name="Picture 3" descr="image.png"/>
          <p:cNvPicPr>
            <a:picLocks noChangeAspect="1"/>
          </p:cNvPicPr>
          <p:nvPr/>
        </p:nvPicPr>
        <p:blipFill>
          <a:blip r:embed="rId4"/>
          <a:stretch>
            <a:fillRect/>
          </a:stretch>
        </p:blipFill>
        <p:spPr>
          <a:xfrm>
            <a:off x="876300" y="3463230"/>
            <a:ext cx="4591050" cy="361950"/>
          </a:xfrm>
          <a:prstGeom prst="rect">
            <a:avLst/>
          </a:prstGeom>
        </p:spPr>
      </p:pic>
      <p:pic>
        <p:nvPicPr>
          <p:cNvPr id="5" name="Picture 4" descr="image.png"/>
          <p:cNvPicPr>
            <a:picLocks noChangeAspect="1"/>
          </p:cNvPicPr>
          <p:nvPr/>
        </p:nvPicPr>
        <p:blipFill>
          <a:blip r:embed="rId5"/>
          <a:stretch>
            <a:fillRect/>
          </a:stretch>
        </p:blipFill>
        <p:spPr>
          <a:xfrm>
            <a:off x="876300" y="4206180"/>
            <a:ext cx="4591050" cy="361950"/>
          </a:xfrm>
          <a:prstGeom prst="rect">
            <a:avLst/>
          </a:prstGeom>
        </p:spPr>
      </p:pic>
      <p:sp>
        <p:nvSpPr>
          <p:cNvPr id="6" name="TextBox 5"/>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Turn 1: The Cold Start (No Cache)</a:t>
            </a:r>
          </a:p>
        </p:txBody>
      </p:sp>
      <p:sp>
        <p:nvSpPr>
          <p:cNvPr id="7" name="TextBox 6"/>
          <p:cNvSpPr txBox="1"/>
          <p:nvPr/>
        </p:nvSpPr>
        <p:spPr>
          <a:xfrm>
            <a:off x="876300" y="1762125"/>
            <a:ext cx="4820602" cy="323850"/>
          </a:xfrm>
          <a:prstGeom prst="rect">
            <a:avLst/>
          </a:prstGeom>
          <a:noFill/>
        </p:spPr>
        <p:txBody>
          <a:bodyPr wrap="square" lIns="0" rIns="0" tIns="0" bIns="0" anchor="t">
            <a:spAutoFit/>
          </a:bodyPr>
          <a:lstStyle/>
          <a:p>
            <a:pPr algn="l"/>
            <a:r>
              <a:rPr b="0" sz="1950" i="0" u="none">
                <a:solidFill>
                  <a:srgbClr val="F8FAFC"/>
                </a:solidFill>
                <a:latin typeface="Fira Code SemiBold"/>
              </a:rPr>
              <a:t>Payload Sent by App</a:t>
            </a:r>
          </a:p>
        </p:txBody>
      </p:sp>
      <p:sp>
        <p:nvSpPr>
          <p:cNvPr id="8" name="TextBox 7"/>
          <p:cNvSpPr txBox="1"/>
          <p:nvPr/>
        </p:nvSpPr>
        <p:spPr>
          <a:xfrm>
            <a:off x="876300" y="2400300"/>
            <a:ext cx="4591050" cy="54858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The application packages the giant system instructions along with your very first prompt.</a:t>
            </a:r>
          </a:p>
        </p:txBody>
      </p:sp>
      <p:sp>
        <p:nvSpPr>
          <p:cNvPr id="9" name="TextBox 8"/>
          <p:cNvSpPr txBox="1"/>
          <p:nvPr/>
        </p:nvSpPr>
        <p:spPr>
          <a:xfrm>
            <a:off x="6724650" y="1762125"/>
            <a:ext cx="4820602" cy="323850"/>
          </a:xfrm>
          <a:prstGeom prst="rect">
            <a:avLst/>
          </a:prstGeom>
          <a:noFill/>
        </p:spPr>
        <p:txBody>
          <a:bodyPr wrap="square" lIns="0" rIns="0" tIns="0" bIns="0" anchor="t">
            <a:spAutoFit/>
          </a:bodyPr>
          <a:lstStyle/>
          <a:p>
            <a:pPr algn="l"/>
            <a:r>
              <a:rPr b="0" sz="1950" i="0" u="none">
                <a:solidFill>
                  <a:srgbClr val="F8FAFC"/>
                </a:solidFill>
                <a:latin typeface="Fira Code SemiBold"/>
              </a:rPr>
              <a:t>Server: Full Prefill</a:t>
            </a:r>
          </a:p>
        </p:txBody>
      </p:sp>
      <p:sp>
        <p:nvSpPr>
          <p:cNvPr id="10" name="TextBox 9"/>
          <p:cNvSpPr txBox="1"/>
          <p:nvPr/>
        </p:nvSpPr>
        <p:spPr>
          <a:xfrm>
            <a:off x="6724650" y="2400300"/>
            <a:ext cx="4591050" cy="82287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The GPU has never seen this sequence. It must calculate the math for all 10,500 tokens and store the state in the KV Cache.</a:t>
            </a:r>
          </a:p>
        </p:txBody>
      </p:sp>
      <p:pic>
        <p:nvPicPr>
          <p:cNvPr id="11" name="Picture 10" descr="image.png"/>
          <p:cNvPicPr>
            <a:picLocks noChangeAspect="1"/>
          </p:cNvPicPr>
          <p:nvPr/>
        </p:nvPicPr>
        <p:blipFill>
          <a:blip r:embed="rId6"/>
          <a:stretch>
            <a:fillRect/>
          </a:stretch>
        </p:blipFill>
        <p:spPr>
          <a:xfrm>
            <a:off x="3100387" y="3920430"/>
            <a:ext cx="142875" cy="190500"/>
          </a:xfrm>
          <a:prstGeom prst="rect">
            <a:avLst/>
          </a:prstGeom>
        </p:spPr>
      </p:pic>
      <p:sp>
        <p:nvSpPr>
          <p:cNvPr id="12" name="TextBox 11"/>
          <p:cNvSpPr txBox="1"/>
          <p:nvPr/>
        </p:nvSpPr>
        <p:spPr>
          <a:xfrm>
            <a:off x="6962775" y="3680370"/>
            <a:ext cx="4352925" cy="27429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Compute Status:</a:t>
            </a:r>
            <a:r>
              <a:rPr b="0" sz="1350" i="0" u="none">
                <a:solidFill>
                  <a:srgbClr val="CBD5E1"/>
                </a:solidFill>
                <a:latin typeface="Inter"/>
              </a:rPr>
              <a:t> </a:t>
            </a:r>
            <a:r>
              <a:rPr b="0" sz="1350" i="0" u="none">
                <a:solidFill>
                  <a:srgbClr val="3B82F6"/>
                </a:solidFill>
                <a:latin typeface="Inter"/>
              </a:rPr>
              <a:t>Full Processing Required</a:t>
            </a:r>
          </a:p>
        </p:txBody>
      </p:sp>
      <p:sp>
        <p:nvSpPr>
          <p:cNvPr id="13" name="TextBox 12"/>
          <p:cNvSpPr txBox="1"/>
          <p:nvPr/>
        </p:nvSpPr>
        <p:spPr>
          <a:xfrm>
            <a:off x="6962775" y="4097535"/>
            <a:ext cx="4352925" cy="27429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Latency:</a:t>
            </a:r>
            <a:r>
              <a:rPr b="0" sz="1350" i="0" u="none">
                <a:solidFill>
                  <a:srgbClr val="CBD5E1"/>
                </a:solidFill>
                <a:latin typeface="Inter"/>
              </a:rPr>
              <a:t> High (Calculating heavy matrix math)</a:t>
            </a:r>
          </a:p>
        </p:txBody>
      </p:sp>
      <p:sp>
        <p:nvSpPr>
          <p:cNvPr id="14" name="TextBox 13"/>
          <p:cNvSpPr txBox="1"/>
          <p:nvPr/>
        </p:nvSpPr>
        <p:spPr>
          <a:xfrm>
            <a:off x="6962775" y="4514701"/>
            <a:ext cx="4352925" cy="27429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Cost:</a:t>
            </a:r>
            <a:r>
              <a:rPr b="0" sz="1350" i="0" u="none">
                <a:solidFill>
                  <a:srgbClr val="CBD5E1"/>
                </a:solidFill>
                <a:latin typeface="Inter"/>
              </a:rPr>
              <a:t> 10,500 Standard Input Tokens (Expensive)</a:t>
            </a:r>
          </a:p>
        </p:txBody>
      </p:sp>
      <p:sp>
        <p:nvSpPr>
          <p:cNvPr id="15" name="TextBox 14"/>
          <p:cNvSpPr txBox="1"/>
          <p:nvPr/>
        </p:nvSpPr>
        <p:spPr>
          <a:xfrm>
            <a:off x="6724650" y="3680370"/>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6" name="TextBox 15"/>
          <p:cNvSpPr txBox="1"/>
          <p:nvPr/>
        </p:nvSpPr>
        <p:spPr>
          <a:xfrm>
            <a:off x="6724650" y="4097535"/>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17" name="TextBox 16"/>
          <p:cNvSpPr txBox="1"/>
          <p:nvPr/>
        </p:nvSpPr>
        <p:spPr>
          <a:xfrm>
            <a:off x="6724650" y="4514701"/>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85775" y="1354484"/>
            <a:ext cx="5372100" cy="5034855"/>
          </a:xfrm>
          <a:prstGeom prst="rect">
            <a:avLst/>
          </a:prstGeom>
        </p:spPr>
      </p:pic>
      <p:pic>
        <p:nvPicPr>
          <p:cNvPr id="3" name="Picture 2" descr="image.png"/>
          <p:cNvPicPr>
            <a:picLocks noChangeAspect="1"/>
          </p:cNvPicPr>
          <p:nvPr/>
        </p:nvPicPr>
        <p:blipFill>
          <a:blip r:embed="rId3"/>
          <a:stretch>
            <a:fillRect/>
          </a:stretch>
        </p:blipFill>
        <p:spPr>
          <a:xfrm>
            <a:off x="6334125" y="1354484"/>
            <a:ext cx="5372100" cy="5034855"/>
          </a:xfrm>
          <a:prstGeom prst="rect">
            <a:avLst/>
          </a:prstGeom>
        </p:spPr>
      </p:pic>
      <p:pic>
        <p:nvPicPr>
          <p:cNvPr id="4" name="Picture 3" descr="image.png"/>
          <p:cNvPicPr>
            <a:picLocks noChangeAspect="1"/>
          </p:cNvPicPr>
          <p:nvPr/>
        </p:nvPicPr>
        <p:blipFill>
          <a:blip r:embed="rId4"/>
          <a:stretch>
            <a:fillRect/>
          </a:stretch>
        </p:blipFill>
        <p:spPr>
          <a:xfrm>
            <a:off x="876300" y="3350865"/>
            <a:ext cx="4591050" cy="361950"/>
          </a:xfrm>
          <a:prstGeom prst="rect">
            <a:avLst/>
          </a:prstGeom>
        </p:spPr>
      </p:pic>
      <p:pic>
        <p:nvPicPr>
          <p:cNvPr id="5" name="Picture 4" descr="image.png"/>
          <p:cNvPicPr>
            <a:picLocks noChangeAspect="1"/>
          </p:cNvPicPr>
          <p:nvPr/>
        </p:nvPicPr>
        <p:blipFill>
          <a:blip r:embed="rId5"/>
          <a:stretch>
            <a:fillRect/>
          </a:stretch>
        </p:blipFill>
        <p:spPr>
          <a:xfrm>
            <a:off x="876300" y="4093815"/>
            <a:ext cx="4591050" cy="361950"/>
          </a:xfrm>
          <a:prstGeom prst="rect">
            <a:avLst/>
          </a:prstGeom>
        </p:spPr>
      </p:pic>
      <p:pic>
        <p:nvPicPr>
          <p:cNvPr id="6" name="Picture 5" descr="image.png"/>
          <p:cNvPicPr>
            <a:picLocks noChangeAspect="1"/>
          </p:cNvPicPr>
          <p:nvPr/>
        </p:nvPicPr>
        <p:blipFill>
          <a:blip r:embed="rId6"/>
          <a:stretch>
            <a:fillRect/>
          </a:stretch>
        </p:blipFill>
        <p:spPr>
          <a:xfrm>
            <a:off x="876300" y="4836765"/>
            <a:ext cx="4591050" cy="361950"/>
          </a:xfrm>
          <a:prstGeom prst="rect">
            <a:avLst/>
          </a:prstGeom>
        </p:spPr>
      </p:pic>
      <p:pic>
        <p:nvPicPr>
          <p:cNvPr id="7" name="Picture 6" descr="image.png"/>
          <p:cNvPicPr>
            <a:picLocks noChangeAspect="1"/>
          </p:cNvPicPr>
          <p:nvPr/>
        </p:nvPicPr>
        <p:blipFill>
          <a:blip r:embed="rId7"/>
          <a:stretch>
            <a:fillRect/>
          </a:stretch>
        </p:blipFill>
        <p:spPr>
          <a:xfrm>
            <a:off x="876300" y="5579715"/>
            <a:ext cx="4591050" cy="361950"/>
          </a:xfrm>
          <a:prstGeom prst="rect">
            <a:avLst/>
          </a:prstGeom>
        </p:spPr>
      </p:pic>
      <p:sp>
        <p:nvSpPr>
          <p:cNvPr id="8" name="TextBox 7"/>
          <p:cNvSpPr txBox="1"/>
          <p:nvPr/>
        </p:nvSpPr>
        <p:spPr>
          <a:xfrm>
            <a:off x="485775" y="468659"/>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Turn 2: The Cache Hit (Discounted)</a:t>
            </a:r>
          </a:p>
        </p:txBody>
      </p:sp>
      <p:sp>
        <p:nvSpPr>
          <p:cNvPr id="9" name="TextBox 8"/>
          <p:cNvSpPr txBox="1"/>
          <p:nvPr/>
        </p:nvSpPr>
        <p:spPr>
          <a:xfrm>
            <a:off x="876300" y="1745009"/>
            <a:ext cx="4820602" cy="323850"/>
          </a:xfrm>
          <a:prstGeom prst="rect">
            <a:avLst/>
          </a:prstGeom>
          <a:noFill/>
        </p:spPr>
        <p:txBody>
          <a:bodyPr wrap="square" lIns="0" rIns="0" tIns="0" bIns="0" anchor="t">
            <a:spAutoFit/>
          </a:bodyPr>
          <a:lstStyle/>
          <a:p>
            <a:pPr algn="l"/>
            <a:r>
              <a:rPr b="0" sz="1950" i="0" u="none">
                <a:solidFill>
                  <a:srgbClr val="F8FAFC"/>
                </a:solidFill>
                <a:latin typeface="Fira Code SemiBold"/>
              </a:rPr>
              <a:t>Payload Sent by App</a:t>
            </a:r>
          </a:p>
        </p:txBody>
      </p:sp>
      <p:sp>
        <p:nvSpPr>
          <p:cNvPr id="10" name="TextBox 9"/>
          <p:cNvSpPr txBox="1"/>
          <p:nvPr/>
        </p:nvSpPr>
        <p:spPr>
          <a:xfrm>
            <a:off x="876300" y="2383184"/>
            <a:ext cx="4591050" cy="54858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The app sends the whole history. The server hashes it and spots an exact </a:t>
            </a:r>
            <a:r>
              <a:rPr b="1" sz="1350" i="0" u="none">
                <a:solidFill>
                  <a:srgbClr val="CBD5E1"/>
                </a:solidFill>
                <a:latin typeface="Inter"/>
              </a:rPr>
              <a:t>prefix match</a:t>
            </a:r>
            <a:r>
              <a:rPr b="0" sz="1350" i="0" u="none">
                <a:solidFill>
                  <a:srgbClr val="CBD5E1"/>
                </a:solidFill>
                <a:latin typeface="Inter"/>
              </a:rPr>
              <a:t> in its GPU RAM.</a:t>
            </a:r>
          </a:p>
        </p:txBody>
      </p:sp>
      <p:sp>
        <p:nvSpPr>
          <p:cNvPr id="11" name="TextBox 10"/>
          <p:cNvSpPr txBox="1"/>
          <p:nvPr/>
        </p:nvSpPr>
        <p:spPr>
          <a:xfrm>
            <a:off x="6724650" y="1745009"/>
            <a:ext cx="4820602" cy="323850"/>
          </a:xfrm>
          <a:prstGeom prst="rect">
            <a:avLst/>
          </a:prstGeom>
          <a:noFill/>
        </p:spPr>
        <p:txBody>
          <a:bodyPr wrap="square" lIns="0" rIns="0" tIns="0" bIns="0" anchor="t">
            <a:spAutoFit/>
          </a:bodyPr>
          <a:lstStyle/>
          <a:p>
            <a:pPr algn="l"/>
            <a:r>
              <a:rPr b="0" sz="1950" i="0" u="none">
                <a:solidFill>
                  <a:srgbClr val="F8FAFC"/>
                </a:solidFill>
                <a:latin typeface="Fira Code SemiBold"/>
              </a:rPr>
              <a:t>Server: Fast Extend</a:t>
            </a:r>
          </a:p>
        </p:txBody>
      </p:sp>
      <p:sp>
        <p:nvSpPr>
          <p:cNvPr id="12" name="TextBox 11"/>
          <p:cNvSpPr txBox="1"/>
          <p:nvPr/>
        </p:nvSpPr>
        <p:spPr>
          <a:xfrm>
            <a:off x="6724650" y="2383184"/>
            <a:ext cx="4591050" cy="548580"/>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The server instantly loads 11,500 token states from memory. It </a:t>
            </a:r>
            <a:r>
              <a:rPr b="0" sz="1350" i="1" u="none">
                <a:solidFill>
                  <a:srgbClr val="CBD5E1"/>
                </a:solidFill>
                <a:latin typeface="Inter"/>
              </a:rPr>
              <a:t>only</a:t>
            </a:r>
            <a:r>
              <a:rPr b="0" sz="1350" i="0" u="none">
                <a:solidFill>
                  <a:srgbClr val="CBD5E1"/>
                </a:solidFill>
                <a:latin typeface="Inter"/>
              </a:rPr>
              <a:t> performs math on the 200 new tokens.</a:t>
            </a:r>
          </a:p>
        </p:txBody>
      </p:sp>
      <p:pic>
        <p:nvPicPr>
          <p:cNvPr id="13" name="Picture 12" descr="image.png"/>
          <p:cNvPicPr>
            <a:picLocks noChangeAspect="1"/>
          </p:cNvPicPr>
          <p:nvPr/>
        </p:nvPicPr>
        <p:blipFill>
          <a:blip r:embed="rId8"/>
          <a:stretch>
            <a:fillRect/>
          </a:stretch>
        </p:blipFill>
        <p:spPr>
          <a:xfrm>
            <a:off x="3100387" y="3808065"/>
            <a:ext cx="142875" cy="190500"/>
          </a:xfrm>
          <a:prstGeom prst="rect">
            <a:avLst/>
          </a:prstGeom>
        </p:spPr>
      </p:pic>
      <p:pic>
        <p:nvPicPr>
          <p:cNvPr id="14" name="Picture 13" descr="image.png"/>
          <p:cNvPicPr>
            <a:picLocks noChangeAspect="1"/>
          </p:cNvPicPr>
          <p:nvPr/>
        </p:nvPicPr>
        <p:blipFill>
          <a:blip r:embed="rId8"/>
          <a:stretch>
            <a:fillRect/>
          </a:stretch>
        </p:blipFill>
        <p:spPr>
          <a:xfrm>
            <a:off x="3100387" y="4551015"/>
            <a:ext cx="142875" cy="190500"/>
          </a:xfrm>
          <a:prstGeom prst="rect">
            <a:avLst/>
          </a:prstGeom>
        </p:spPr>
      </p:pic>
      <p:pic>
        <p:nvPicPr>
          <p:cNvPr id="15" name="Picture 14" descr="image.png"/>
          <p:cNvPicPr>
            <a:picLocks noChangeAspect="1"/>
          </p:cNvPicPr>
          <p:nvPr/>
        </p:nvPicPr>
        <p:blipFill>
          <a:blip r:embed="rId8"/>
          <a:stretch>
            <a:fillRect/>
          </a:stretch>
        </p:blipFill>
        <p:spPr>
          <a:xfrm>
            <a:off x="3100387" y="5293965"/>
            <a:ext cx="142875" cy="190500"/>
          </a:xfrm>
          <a:prstGeom prst="rect">
            <a:avLst/>
          </a:prstGeom>
        </p:spPr>
      </p:pic>
      <p:sp>
        <p:nvSpPr>
          <p:cNvPr id="16" name="TextBox 15"/>
          <p:cNvSpPr txBox="1"/>
          <p:nvPr/>
        </p:nvSpPr>
        <p:spPr>
          <a:xfrm>
            <a:off x="6962775" y="3293715"/>
            <a:ext cx="4352925" cy="27429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Compute Status:</a:t>
            </a:r>
            <a:r>
              <a:rPr b="0" sz="1350" i="0" u="none">
                <a:solidFill>
                  <a:srgbClr val="CBD5E1"/>
                </a:solidFill>
                <a:latin typeface="Inter"/>
              </a:rPr>
              <a:t> </a:t>
            </a:r>
            <a:r>
              <a:rPr b="0" sz="1350" i="0" u="none">
                <a:solidFill>
                  <a:srgbClr val="10B981"/>
                </a:solidFill>
                <a:latin typeface="Inter"/>
              </a:rPr>
              <a:t>Skipped 98% of processing</a:t>
            </a:r>
          </a:p>
        </p:txBody>
      </p:sp>
      <p:sp>
        <p:nvSpPr>
          <p:cNvPr id="17" name="TextBox 16"/>
          <p:cNvSpPr txBox="1"/>
          <p:nvPr/>
        </p:nvSpPr>
        <p:spPr>
          <a:xfrm>
            <a:off x="6962775" y="3710880"/>
            <a:ext cx="4352925" cy="54858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Latency:</a:t>
            </a:r>
            <a:r>
              <a:rPr b="0" sz="1350" i="0" u="none">
                <a:solidFill>
                  <a:srgbClr val="CBD5E1"/>
                </a:solidFill>
                <a:latin typeface="Inter"/>
              </a:rPr>
              <a:t> Nearly Instant (Time-to-first-token drops drastically)</a:t>
            </a:r>
          </a:p>
        </p:txBody>
      </p:sp>
      <p:sp>
        <p:nvSpPr>
          <p:cNvPr id="18" name="TextBox 17"/>
          <p:cNvSpPr txBox="1"/>
          <p:nvPr/>
        </p:nvSpPr>
        <p:spPr>
          <a:xfrm>
            <a:off x="6962775" y="4402335"/>
            <a:ext cx="4352925" cy="548580"/>
          </a:xfrm>
          <a:prstGeom prst="rect">
            <a:avLst/>
          </a:prstGeom>
          <a:noFill/>
        </p:spPr>
        <p:txBody>
          <a:bodyPr wrap="square" lIns="0" rIns="0" tIns="0" bIns="0" anchor="t">
            <a:spAutoFit/>
          </a:bodyPr>
          <a:lstStyle/>
          <a:p>
            <a:pPr algn="l">
              <a:lnSpc>
                <a:spcPts val="2160"/>
              </a:lnSpc>
            </a:pPr>
            <a:r>
              <a:rPr b="1" sz="1350" i="0" u="none">
                <a:solidFill>
                  <a:srgbClr val="CBD5E1"/>
                </a:solidFill>
                <a:latin typeface="Inter"/>
              </a:rPr>
              <a:t>Cost:</a:t>
            </a:r>
            <a:r>
              <a:rPr b="0" sz="1350" i="0" u="none">
                <a:solidFill>
                  <a:srgbClr val="CBD5E1"/>
                </a:solidFill>
                <a:latin typeface="Inter"/>
              </a:rPr>
              <a:t> 11.5k Cached Tokens (Highly Discounted) + 200 Standard Tokens</a:t>
            </a:r>
          </a:p>
        </p:txBody>
      </p:sp>
      <p:sp>
        <p:nvSpPr>
          <p:cNvPr id="19" name="TextBox 18"/>
          <p:cNvSpPr txBox="1"/>
          <p:nvPr/>
        </p:nvSpPr>
        <p:spPr>
          <a:xfrm>
            <a:off x="6724650" y="3293715"/>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20" name="TextBox 19"/>
          <p:cNvSpPr txBox="1"/>
          <p:nvPr/>
        </p:nvSpPr>
        <p:spPr>
          <a:xfrm>
            <a:off x="6724650" y="3710880"/>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
        <p:nvSpPr>
          <p:cNvPr id="21" name="TextBox 20"/>
          <p:cNvSpPr txBox="1"/>
          <p:nvPr/>
        </p:nvSpPr>
        <p:spPr>
          <a:xfrm>
            <a:off x="6724650" y="4402335"/>
            <a:ext cx="104775" cy="276225"/>
          </a:xfrm>
          <a:prstGeom prst="rect">
            <a:avLst/>
          </a:prstGeom>
          <a:noFill/>
        </p:spPr>
        <p:txBody>
          <a:bodyPr wrap="square" lIns="0" rIns="0" tIns="0" bIns="0" anchor="t">
            <a:spAutoFit/>
          </a:bodyPr>
          <a:lstStyle/>
          <a:p>
            <a:pPr algn="l">
              <a:lnSpc>
                <a:spcPts val="2160"/>
              </a:lnSpc>
            </a:pPr>
            <a:r>
              <a:rPr b="1" sz="1350" i="0" u="none">
                <a:solidFill>
                  <a:srgbClr val="3B82F6"/>
                </a:solidFill>
                <a:latin typeface="Fira Code"/>
              </a:rPr>
              <a:t>&gt;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85775" y="1371600"/>
            <a:ext cx="3549699" cy="4253656"/>
          </a:xfrm>
          <a:prstGeom prst="rect">
            <a:avLst/>
          </a:prstGeom>
        </p:spPr>
      </p:pic>
      <p:pic>
        <p:nvPicPr>
          <p:cNvPr id="3" name="Picture 2" descr="image.png"/>
          <p:cNvPicPr>
            <a:picLocks noChangeAspect="1"/>
          </p:cNvPicPr>
          <p:nvPr/>
        </p:nvPicPr>
        <p:blipFill>
          <a:blip r:embed="rId3"/>
          <a:stretch>
            <a:fillRect/>
          </a:stretch>
        </p:blipFill>
        <p:spPr>
          <a:xfrm>
            <a:off x="4321224" y="1371600"/>
            <a:ext cx="3549699" cy="4253656"/>
          </a:xfrm>
          <a:prstGeom prst="rect">
            <a:avLst/>
          </a:prstGeom>
        </p:spPr>
      </p:pic>
      <p:pic>
        <p:nvPicPr>
          <p:cNvPr id="4" name="Picture 3" descr="image.png"/>
          <p:cNvPicPr>
            <a:picLocks noChangeAspect="1"/>
          </p:cNvPicPr>
          <p:nvPr/>
        </p:nvPicPr>
        <p:blipFill>
          <a:blip r:embed="rId4"/>
          <a:stretch>
            <a:fillRect/>
          </a:stretch>
        </p:blipFill>
        <p:spPr>
          <a:xfrm>
            <a:off x="8156674" y="1371600"/>
            <a:ext cx="3549699" cy="4253656"/>
          </a:xfrm>
          <a:prstGeom prst="rect">
            <a:avLst/>
          </a:prstGeom>
        </p:spPr>
      </p:pic>
      <p:sp>
        <p:nvSpPr>
          <p:cNvPr id="5" name="TextBox 4"/>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The Golden Rules of Context Caching</a:t>
            </a:r>
          </a:p>
        </p:txBody>
      </p:sp>
      <p:sp>
        <p:nvSpPr>
          <p:cNvPr id="6" name="TextBox 5"/>
          <p:cNvSpPr txBox="1"/>
          <p:nvPr/>
        </p:nvSpPr>
        <p:spPr>
          <a:xfrm>
            <a:off x="781050" y="2276475"/>
            <a:ext cx="2560320" cy="323850"/>
          </a:xfrm>
          <a:prstGeom prst="rect">
            <a:avLst/>
          </a:prstGeom>
          <a:noFill/>
        </p:spPr>
        <p:txBody>
          <a:bodyPr wrap="square" lIns="0" rIns="0" tIns="0" bIns="0" anchor="t">
            <a:spAutoFit/>
          </a:bodyPr>
          <a:lstStyle/>
          <a:p>
            <a:pPr algn="l"/>
            <a:r>
              <a:rPr b="0" sz="1950" i="0" u="none">
                <a:solidFill>
                  <a:srgbClr val="F8FAFC"/>
                </a:solidFill>
                <a:latin typeface="Fira Code SemiBold"/>
              </a:rPr>
              <a:t>The Prefix Break</a:t>
            </a:r>
          </a:p>
        </p:txBody>
      </p:sp>
      <p:sp>
        <p:nvSpPr>
          <p:cNvPr id="7" name="TextBox 6"/>
          <p:cNvSpPr txBox="1"/>
          <p:nvPr/>
        </p:nvSpPr>
        <p:spPr>
          <a:xfrm>
            <a:off x="781050" y="2914650"/>
            <a:ext cx="2959149" cy="1920031"/>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Cached text must be an exact prefix. If you change a single character in the System Rules at the top of the prompt, the math chain breaks. The cache drops, and everything below that edit must be re-computed at full price.</a:t>
            </a:r>
          </a:p>
        </p:txBody>
      </p:sp>
      <p:sp>
        <p:nvSpPr>
          <p:cNvPr id="8" name="TextBox 7"/>
          <p:cNvSpPr txBox="1"/>
          <p:nvPr/>
        </p:nvSpPr>
        <p:spPr>
          <a:xfrm>
            <a:off x="4616499" y="2276475"/>
            <a:ext cx="3107107" cy="647700"/>
          </a:xfrm>
          <a:prstGeom prst="rect">
            <a:avLst/>
          </a:prstGeom>
          <a:noFill/>
        </p:spPr>
        <p:txBody>
          <a:bodyPr wrap="square" lIns="0" rIns="0" tIns="0" bIns="0" anchor="t">
            <a:spAutoFit/>
          </a:bodyPr>
          <a:lstStyle/>
          <a:p>
            <a:pPr algn="l"/>
            <a:r>
              <a:rPr b="0" sz="1950" i="0" u="none">
                <a:solidFill>
                  <a:srgbClr val="F8FAFC"/>
                </a:solidFill>
                <a:latin typeface="Fira Code SemiBold"/>
              </a:rPr>
              <a:t>Tool Result Clearing</a:t>
            </a:r>
          </a:p>
        </p:txBody>
      </p:sp>
      <p:sp>
        <p:nvSpPr>
          <p:cNvPr id="9" name="TextBox 8"/>
          <p:cNvSpPr txBox="1"/>
          <p:nvPr/>
        </p:nvSpPr>
        <p:spPr>
          <a:xfrm>
            <a:off x="4616499" y="3238500"/>
            <a:ext cx="2959149" cy="1920031"/>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To prevent the cache from growing endlessly, modern agents summarize massive tool outputs (like web pages) and then quietly replace the huge text blob in the history with a tiny summary placeholder on the next turn.</a:t>
            </a:r>
          </a:p>
        </p:txBody>
      </p:sp>
      <p:sp>
        <p:nvSpPr>
          <p:cNvPr id="10" name="TextBox 9"/>
          <p:cNvSpPr txBox="1"/>
          <p:nvPr/>
        </p:nvSpPr>
        <p:spPr>
          <a:xfrm>
            <a:off x="8451949" y="2276475"/>
            <a:ext cx="1760220" cy="323850"/>
          </a:xfrm>
          <a:prstGeom prst="rect">
            <a:avLst/>
          </a:prstGeom>
          <a:noFill/>
        </p:spPr>
        <p:txBody>
          <a:bodyPr wrap="square" lIns="0" rIns="0" tIns="0" bIns="0" anchor="t">
            <a:spAutoFit/>
          </a:bodyPr>
          <a:lstStyle/>
          <a:p>
            <a:pPr algn="l"/>
            <a:r>
              <a:rPr b="0" sz="1950" i="0" u="none">
                <a:solidFill>
                  <a:srgbClr val="F8FAFC"/>
                </a:solidFill>
                <a:latin typeface="Fira Code SemiBold"/>
              </a:rPr>
              <a:t>Radix Trees</a:t>
            </a:r>
          </a:p>
        </p:txBody>
      </p:sp>
      <p:sp>
        <p:nvSpPr>
          <p:cNvPr id="11" name="TextBox 10"/>
          <p:cNvSpPr txBox="1"/>
          <p:nvPr/>
        </p:nvSpPr>
        <p:spPr>
          <a:xfrm>
            <a:off x="8451949" y="2914650"/>
            <a:ext cx="2959149" cy="1920031"/>
          </a:xfrm>
          <a:prstGeom prst="rect">
            <a:avLst/>
          </a:prstGeom>
          <a:noFill/>
        </p:spPr>
        <p:txBody>
          <a:bodyPr wrap="square" lIns="0" rIns="0" tIns="0" bIns="0" anchor="t">
            <a:spAutoFit/>
          </a:bodyPr>
          <a:lstStyle/>
          <a:p>
            <a:pPr algn="l">
              <a:lnSpc>
                <a:spcPts val="2160"/>
              </a:lnSpc>
            </a:pPr>
            <a:r>
              <a:rPr b="0" sz="1350" i="0" u="none">
                <a:solidFill>
                  <a:srgbClr val="CBD5E1"/>
                </a:solidFill>
                <a:latin typeface="Inter"/>
              </a:rPr>
              <a:t>Inference servers use Radix Trees. If 100 different developers are running the exact same default System Prompt, the server computes it once and shares that "trunk" in GPU memory across all 100 sessions.</a:t>
            </a:r>
          </a:p>
        </p:txBody>
      </p:sp>
      <p:pic>
        <p:nvPicPr>
          <p:cNvPr id="12" name="Picture 11" descr="image.png"/>
          <p:cNvPicPr>
            <a:picLocks noChangeAspect="1"/>
          </p:cNvPicPr>
          <p:nvPr/>
        </p:nvPicPr>
        <p:blipFill>
          <a:blip r:embed="rId5"/>
          <a:stretch>
            <a:fillRect/>
          </a:stretch>
        </p:blipFill>
        <p:spPr>
          <a:xfrm>
            <a:off x="781050" y="1704975"/>
            <a:ext cx="428625" cy="342900"/>
          </a:xfrm>
          <a:prstGeom prst="rect">
            <a:avLst/>
          </a:prstGeom>
        </p:spPr>
      </p:pic>
      <p:pic>
        <p:nvPicPr>
          <p:cNvPr id="13" name="Picture 12" descr="image.png"/>
          <p:cNvPicPr>
            <a:picLocks noChangeAspect="1"/>
          </p:cNvPicPr>
          <p:nvPr/>
        </p:nvPicPr>
        <p:blipFill>
          <a:blip r:embed="rId6"/>
          <a:stretch>
            <a:fillRect/>
          </a:stretch>
        </p:blipFill>
        <p:spPr>
          <a:xfrm>
            <a:off x="4616499" y="1704975"/>
            <a:ext cx="390525" cy="342900"/>
          </a:xfrm>
          <a:prstGeom prst="rect">
            <a:avLst/>
          </a:prstGeom>
        </p:spPr>
      </p:pic>
      <p:pic>
        <p:nvPicPr>
          <p:cNvPr id="14" name="Picture 13" descr="image.png"/>
          <p:cNvPicPr>
            <a:picLocks noChangeAspect="1"/>
          </p:cNvPicPr>
          <p:nvPr/>
        </p:nvPicPr>
        <p:blipFill>
          <a:blip r:embed="rId7"/>
          <a:stretch>
            <a:fillRect/>
          </a:stretch>
        </p:blipFill>
        <p:spPr>
          <a:xfrm>
            <a:off x="8451949" y="1704975"/>
            <a:ext cx="428625" cy="3429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85775" y="1371600"/>
            <a:ext cx="3549699" cy="4343102"/>
          </a:xfrm>
          <a:prstGeom prst="rect">
            <a:avLst/>
          </a:prstGeom>
        </p:spPr>
      </p:pic>
      <p:pic>
        <p:nvPicPr>
          <p:cNvPr id="3" name="Picture 2" descr="image.png"/>
          <p:cNvPicPr>
            <a:picLocks noChangeAspect="1"/>
          </p:cNvPicPr>
          <p:nvPr/>
        </p:nvPicPr>
        <p:blipFill>
          <a:blip r:embed="rId3"/>
          <a:stretch>
            <a:fillRect/>
          </a:stretch>
        </p:blipFill>
        <p:spPr>
          <a:xfrm>
            <a:off x="4321224" y="1371600"/>
            <a:ext cx="3549699" cy="4343102"/>
          </a:xfrm>
          <a:prstGeom prst="rect">
            <a:avLst/>
          </a:prstGeom>
        </p:spPr>
      </p:pic>
      <p:pic>
        <p:nvPicPr>
          <p:cNvPr id="4" name="Picture 3" descr="image.png"/>
          <p:cNvPicPr>
            <a:picLocks noChangeAspect="1"/>
          </p:cNvPicPr>
          <p:nvPr/>
        </p:nvPicPr>
        <p:blipFill>
          <a:blip r:embed="rId4"/>
          <a:stretch>
            <a:fillRect/>
          </a:stretch>
        </p:blipFill>
        <p:spPr>
          <a:xfrm>
            <a:off x="8156674" y="1371600"/>
            <a:ext cx="3549699" cy="4343102"/>
          </a:xfrm>
          <a:prstGeom prst="rect">
            <a:avLst/>
          </a:prstGeom>
        </p:spPr>
      </p:pic>
      <p:pic>
        <p:nvPicPr>
          <p:cNvPr id="5" name="Picture 4" descr="image.png"/>
          <p:cNvPicPr>
            <a:picLocks noChangeAspect="1"/>
          </p:cNvPicPr>
          <p:nvPr/>
        </p:nvPicPr>
        <p:blipFill>
          <a:blip r:embed="rId5"/>
          <a:stretch>
            <a:fillRect/>
          </a:stretch>
        </p:blipFill>
        <p:spPr>
          <a:xfrm>
            <a:off x="685800" y="1571625"/>
            <a:ext cx="3149649" cy="1905000"/>
          </a:xfrm>
          <a:prstGeom prst="rect">
            <a:avLst/>
          </a:prstGeom>
        </p:spPr>
      </p:pic>
      <p:pic>
        <p:nvPicPr>
          <p:cNvPr id="6" name="Picture 5" descr="image.png"/>
          <p:cNvPicPr>
            <a:picLocks noChangeAspect="1"/>
          </p:cNvPicPr>
          <p:nvPr/>
        </p:nvPicPr>
        <p:blipFill>
          <a:blip r:embed="rId6"/>
          <a:stretch>
            <a:fillRect/>
          </a:stretch>
        </p:blipFill>
        <p:spPr>
          <a:xfrm>
            <a:off x="4521249" y="1571625"/>
            <a:ext cx="3149649" cy="1905000"/>
          </a:xfrm>
          <a:prstGeom prst="rect">
            <a:avLst/>
          </a:prstGeom>
        </p:spPr>
      </p:pic>
      <p:pic>
        <p:nvPicPr>
          <p:cNvPr id="7" name="Picture 6" descr="image.png"/>
          <p:cNvPicPr>
            <a:picLocks noChangeAspect="1"/>
          </p:cNvPicPr>
          <p:nvPr/>
        </p:nvPicPr>
        <p:blipFill>
          <a:blip r:embed="rId6"/>
          <a:stretch>
            <a:fillRect/>
          </a:stretch>
        </p:blipFill>
        <p:spPr>
          <a:xfrm>
            <a:off x="8356699" y="1571625"/>
            <a:ext cx="3149649" cy="1905000"/>
          </a:xfrm>
          <a:prstGeom prst="rect">
            <a:avLst/>
          </a:prstGeom>
        </p:spPr>
      </p:pic>
      <p:sp>
        <p:nvSpPr>
          <p:cNvPr id="8" name="TextBox 7"/>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EF4444"/>
                </a:solidFill>
                <a:latin typeface="Fira Code SemiBold"/>
              </a:rPr>
              <a:t>The Expiration Penalty</a:t>
            </a:r>
          </a:p>
        </p:txBody>
      </p:sp>
      <p:sp>
        <p:nvSpPr>
          <p:cNvPr id="9" name="TextBox 8"/>
          <p:cNvSpPr txBox="1"/>
          <p:nvPr/>
        </p:nvSpPr>
        <p:spPr>
          <a:xfrm>
            <a:off x="685800" y="3667125"/>
            <a:ext cx="3307132" cy="323850"/>
          </a:xfrm>
          <a:prstGeom prst="rect">
            <a:avLst/>
          </a:prstGeom>
          <a:noFill/>
        </p:spPr>
        <p:txBody>
          <a:bodyPr wrap="square" lIns="0" rIns="0" tIns="0" bIns="0" anchor="t">
            <a:spAutoFit/>
          </a:bodyPr>
          <a:lstStyle/>
          <a:p>
            <a:pPr algn="l"/>
            <a:r>
              <a:rPr b="0" sz="1950" i="0" u="none">
                <a:solidFill>
                  <a:srgbClr val="F8FAFC"/>
                </a:solidFill>
                <a:latin typeface="Fira Code SemiBold"/>
              </a:rPr>
              <a:t>1. The Timer Starts</a:t>
            </a:r>
          </a:p>
        </p:txBody>
      </p:sp>
      <p:sp>
        <p:nvSpPr>
          <p:cNvPr id="10" name="TextBox 9"/>
          <p:cNvSpPr txBox="1"/>
          <p:nvPr/>
        </p:nvSpPr>
        <p:spPr>
          <a:xfrm>
            <a:off x="685800" y="4143375"/>
            <a:ext cx="3149649" cy="975121"/>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If you stop sending prompts, the API provider holds your KV cache in memory for a limited Time-To-Live (usually 5 to 60 minutes, depending on the tier).</a:t>
            </a:r>
          </a:p>
        </p:txBody>
      </p:sp>
      <p:sp>
        <p:nvSpPr>
          <p:cNvPr id="11" name="TextBox 10"/>
          <p:cNvSpPr txBox="1"/>
          <p:nvPr/>
        </p:nvSpPr>
        <p:spPr>
          <a:xfrm>
            <a:off x="4521249" y="3667125"/>
            <a:ext cx="3307132" cy="323850"/>
          </a:xfrm>
          <a:prstGeom prst="rect">
            <a:avLst/>
          </a:prstGeom>
          <a:noFill/>
        </p:spPr>
        <p:txBody>
          <a:bodyPr wrap="square" lIns="0" rIns="0" tIns="0" bIns="0" anchor="t">
            <a:spAutoFit/>
          </a:bodyPr>
          <a:lstStyle/>
          <a:p>
            <a:pPr algn="l"/>
            <a:r>
              <a:rPr b="0" sz="1950" i="0" u="none">
                <a:solidFill>
                  <a:srgbClr val="F8FAFC"/>
                </a:solidFill>
                <a:latin typeface="Fira Code SemiBold"/>
              </a:rPr>
              <a:t>2. Cache Eviction</a:t>
            </a:r>
          </a:p>
        </p:txBody>
      </p:sp>
      <p:sp>
        <p:nvSpPr>
          <p:cNvPr id="12" name="TextBox 11"/>
          <p:cNvSpPr txBox="1"/>
          <p:nvPr/>
        </p:nvSpPr>
        <p:spPr>
          <a:xfrm>
            <a:off x="4521249" y="4143375"/>
            <a:ext cx="3149649" cy="975121"/>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If the timer expires while you are away, the server deletes your conversation state from RAM to make room for other active, paying customers.</a:t>
            </a:r>
          </a:p>
        </p:txBody>
      </p:sp>
      <p:sp>
        <p:nvSpPr>
          <p:cNvPr id="13" name="TextBox 12"/>
          <p:cNvSpPr txBox="1"/>
          <p:nvPr/>
        </p:nvSpPr>
        <p:spPr>
          <a:xfrm>
            <a:off x="8356699" y="3667125"/>
            <a:ext cx="3307132" cy="323850"/>
          </a:xfrm>
          <a:prstGeom prst="rect">
            <a:avLst/>
          </a:prstGeom>
          <a:noFill/>
        </p:spPr>
        <p:txBody>
          <a:bodyPr wrap="square" lIns="0" rIns="0" tIns="0" bIns="0" anchor="t">
            <a:spAutoFit/>
          </a:bodyPr>
          <a:lstStyle/>
          <a:p>
            <a:pPr algn="l"/>
            <a:r>
              <a:rPr b="0" sz="1950" i="0" u="none">
                <a:solidFill>
                  <a:srgbClr val="F8FAFC"/>
                </a:solidFill>
                <a:latin typeface="Fira Code SemiBold"/>
              </a:rPr>
              <a:t>3. The Penalty</a:t>
            </a:r>
          </a:p>
        </p:txBody>
      </p:sp>
      <p:sp>
        <p:nvSpPr>
          <p:cNvPr id="14" name="TextBox 13"/>
          <p:cNvSpPr txBox="1"/>
          <p:nvPr/>
        </p:nvSpPr>
        <p:spPr>
          <a:xfrm>
            <a:off x="8356699" y="4143375"/>
            <a:ext cx="3149649" cy="1218902"/>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When you return and send Turn 11, the server is forced to run a Cold Start on the entire accumulated history. You pay full price for thousands of tokens all over again.</a:t>
            </a:r>
          </a:p>
        </p:txBody>
      </p:sp>
      <p:pic>
        <p:nvPicPr>
          <p:cNvPr id="15" name="Picture 14" descr="image.png"/>
          <p:cNvPicPr>
            <a:picLocks noChangeAspect="1"/>
          </p:cNvPicPr>
          <p:nvPr/>
        </p:nvPicPr>
        <p:blipFill>
          <a:blip r:embed="rId7"/>
          <a:stretch>
            <a:fillRect/>
          </a:stretch>
        </p:blipFill>
        <p:spPr>
          <a:xfrm>
            <a:off x="695325" y="1581150"/>
            <a:ext cx="3130599" cy="1885950"/>
          </a:xfrm>
          <a:prstGeom prst="rect">
            <a:avLst/>
          </a:prstGeom>
        </p:spPr>
      </p:pic>
      <p:pic>
        <p:nvPicPr>
          <p:cNvPr id="16" name="Picture 15" descr="image.png"/>
          <p:cNvPicPr>
            <a:picLocks noChangeAspect="1"/>
          </p:cNvPicPr>
          <p:nvPr/>
        </p:nvPicPr>
        <p:blipFill>
          <a:blip r:embed="rId8"/>
          <a:stretch>
            <a:fillRect/>
          </a:stretch>
        </p:blipFill>
        <p:spPr>
          <a:xfrm>
            <a:off x="4530774" y="1581150"/>
            <a:ext cx="3130599" cy="1885950"/>
          </a:xfrm>
          <a:prstGeom prst="rect">
            <a:avLst/>
          </a:prstGeom>
        </p:spPr>
      </p:pic>
      <p:pic>
        <p:nvPicPr>
          <p:cNvPr id="17" name="Picture 16" descr="image.png"/>
          <p:cNvPicPr>
            <a:picLocks noChangeAspect="1"/>
          </p:cNvPicPr>
          <p:nvPr/>
        </p:nvPicPr>
        <p:blipFill>
          <a:blip r:embed="rId9"/>
          <a:stretch>
            <a:fillRect/>
          </a:stretch>
        </p:blipFill>
        <p:spPr>
          <a:xfrm>
            <a:off x="8366224" y="1581150"/>
            <a:ext cx="3130599" cy="188595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extBox 1"/>
          <p:cNvSpPr txBox="1"/>
          <p:nvPr/>
        </p:nvSpPr>
        <p:spPr>
          <a:xfrm>
            <a:off x="485775" y="485775"/>
            <a:ext cx="11706225" cy="504825"/>
          </a:xfrm>
          <a:prstGeom prst="rect">
            <a:avLst/>
          </a:prstGeom>
          <a:noFill/>
        </p:spPr>
        <p:txBody>
          <a:bodyPr wrap="square" lIns="0" rIns="0" tIns="0" bIns="0" anchor="t">
            <a:spAutoFit/>
          </a:bodyPr>
          <a:lstStyle/>
          <a:p>
            <a:pPr algn="l"/>
            <a:r>
              <a:rPr b="0" sz="3000" i="0" u="none">
                <a:solidFill>
                  <a:srgbClr val="F8FAFC"/>
                </a:solidFill>
                <a:latin typeface="Fira Code SemiBold"/>
              </a:rPr>
              <a:t>Image Sources</a:t>
            </a:r>
          </a:p>
        </p:txBody>
      </p:sp>
      <p:sp>
        <p:nvSpPr>
          <p:cNvPr id="3" name="Rectangle 2"/>
          <p:cNvSpPr/>
          <p:nvPr/>
        </p:nvSpPr>
        <p:spPr>
          <a:xfrm>
            <a:off x="485775" y="1371600"/>
            <a:ext cx="11220450" cy="982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5775" y="2354460"/>
            <a:ext cx="112204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85775" y="3139231"/>
            <a:ext cx="112204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5775" y="2344935"/>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5775" y="2344935"/>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85775" y="3129706"/>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5775" y="3129706"/>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5775" y="3914477"/>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5775" y="3914477"/>
            <a:ext cx="11220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485775" y="1620142"/>
            <a:ext cx="857250" cy="476250"/>
          </a:xfrm>
          <a:prstGeom prst="rect">
            <a:avLst/>
          </a:prstGeom>
        </p:spPr>
      </p:pic>
      <p:sp>
        <p:nvSpPr>
          <p:cNvPr id="13" name="TextBox 12"/>
          <p:cNvSpPr txBox="1"/>
          <p:nvPr/>
        </p:nvSpPr>
        <p:spPr>
          <a:xfrm>
            <a:off x="1581150" y="1514475"/>
            <a:ext cx="10125075" cy="39618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https://media.istockphoto.com/id/2273664489/vector/abstract-data-server-center-room-with-ai-cloud-internet-network.jpg?s=612x612&amp;w=0&amp;k=20&amp;c=v4bBB-DGsfimGj282tPvUGB0ycB-gbaw5j_I8BjApTM=</a:t>
            </a:r>
          </a:p>
        </p:txBody>
      </p:sp>
      <p:sp>
        <p:nvSpPr>
          <p:cNvPr id="14" name="TextBox 13"/>
          <p:cNvSpPr txBox="1"/>
          <p:nvPr/>
        </p:nvSpPr>
        <p:spPr>
          <a:xfrm>
            <a:off x="1581150" y="1958280"/>
            <a:ext cx="1012507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www.istockphoto.com</a:t>
            </a:r>
          </a:p>
        </p:txBody>
      </p:sp>
      <p:pic>
        <p:nvPicPr>
          <p:cNvPr id="15" name="Picture 14" descr="image.png"/>
          <p:cNvPicPr>
            <a:picLocks noChangeAspect="1"/>
          </p:cNvPicPr>
          <p:nvPr/>
        </p:nvPicPr>
        <p:blipFill>
          <a:blip r:embed="rId3"/>
          <a:stretch>
            <a:fillRect/>
          </a:stretch>
        </p:blipFill>
        <p:spPr>
          <a:xfrm>
            <a:off x="485775" y="2503884"/>
            <a:ext cx="857250" cy="476250"/>
          </a:xfrm>
          <a:prstGeom prst="rect">
            <a:avLst/>
          </a:prstGeom>
        </p:spPr>
      </p:pic>
      <p:sp>
        <p:nvSpPr>
          <p:cNvPr id="16" name="TextBox 15"/>
          <p:cNvSpPr txBox="1"/>
          <p:nvPr/>
        </p:nvSpPr>
        <p:spPr>
          <a:xfrm>
            <a:off x="1581150" y="2497335"/>
            <a:ext cx="10125075" cy="19809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https://www.lemon8-app.com/seo/image?item_id=7524593027797500471&amp;index=5&amp;sign=307450f4f5225cf446cd486ad3cc9f09</a:t>
            </a:r>
          </a:p>
        </p:txBody>
      </p:sp>
      <p:sp>
        <p:nvSpPr>
          <p:cNvPr id="17" name="TextBox 16"/>
          <p:cNvSpPr txBox="1"/>
          <p:nvPr/>
        </p:nvSpPr>
        <p:spPr>
          <a:xfrm>
            <a:off x="1581150" y="2743051"/>
            <a:ext cx="1012507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www.lemon8-app.com</a:t>
            </a:r>
          </a:p>
        </p:txBody>
      </p:sp>
      <p:pic>
        <p:nvPicPr>
          <p:cNvPr id="18" name="Picture 17" descr="image.png"/>
          <p:cNvPicPr>
            <a:picLocks noChangeAspect="1"/>
          </p:cNvPicPr>
          <p:nvPr/>
        </p:nvPicPr>
        <p:blipFill>
          <a:blip r:embed="rId4"/>
          <a:stretch>
            <a:fillRect/>
          </a:stretch>
        </p:blipFill>
        <p:spPr>
          <a:xfrm>
            <a:off x="485775" y="3288655"/>
            <a:ext cx="857250" cy="476250"/>
          </a:xfrm>
          <a:prstGeom prst="rect">
            <a:avLst/>
          </a:prstGeom>
        </p:spPr>
      </p:pic>
      <p:sp>
        <p:nvSpPr>
          <p:cNvPr id="19" name="TextBox 18"/>
          <p:cNvSpPr txBox="1"/>
          <p:nvPr/>
        </p:nvSpPr>
        <p:spPr>
          <a:xfrm>
            <a:off x="1581150" y="3282106"/>
            <a:ext cx="10125075" cy="19809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https://images.steamusercontent.com/ugc/10545518390295805987/702BD7B4517ED3BAEB52A8E4C0AB1B8D4299068F/</a:t>
            </a:r>
          </a:p>
        </p:txBody>
      </p:sp>
      <p:sp>
        <p:nvSpPr>
          <p:cNvPr id="20" name="TextBox 19"/>
          <p:cNvSpPr txBox="1"/>
          <p:nvPr/>
        </p:nvSpPr>
        <p:spPr>
          <a:xfrm>
            <a:off x="1581150" y="3527821"/>
            <a:ext cx="1012507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steamcommunity.com</a:t>
            </a:r>
          </a:p>
        </p:txBody>
      </p:sp>
      <p:pic>
        <p:nvPicPr>
          <p:cNvPr id="21" name="Picture 20" descr="image.png"/>
          <p:cNvPicPr>
            <a:picLocks noChangeAspect="1"/>
          </p:cNvPicPr>
          <p:nvPr/>
        </p:nvPicPr>
        <p:blipFill>
          <a:blip r:embed="rId5"/>
          <a:stretch>
            <a:fillRect/>
          </a:stretch>
        </p:blipFill>
        <p:spPr>
          <a:xfrm>
            <a:off x="485775" y="4073425"/>
            <a:ext cx="857250" cy="476250"/>
          </a:xfrm>
          <a:prstGeom prst="rect">
            <a:avLst/>
          </a:prstGeom>
        </p:spPr>
      </p:pic>
      <p:sp>
        <p:nvSpPr>
          <p:cNvPr id="22" name="TextBox 21"/>
          <p:cNvSpPr txBox="1"/>
          <p:nvPr/>
        </p:nvSpPr>
        <p:spPr>
          <a:xfrm>
            <a:off x="1581150" y="4066877"/>
            <a:ext cx="10125075" cy="198090"/>
          </a:xfrm>
          <a:prstGeom prst="rect">
            <a:avLst/>
          </a:prstGeom>
          <a:noFill/>
        </p:spPr>
        <p:txBody>
          <a:bodyPr wrap="square" lIns="0" rIns="0" tIns="0" bIns="0" anchor="t">
            <a:spAutoFit/>
          </a:bodyPr>
          <a:lstStyle/>
          <a:p>
            <a:pPr algn="l">
              <a:lnSpc>
                <a:spcPts val="1560"/>
              </a:lnSpc>
            </a:pPr>
            <a:r>
              <a:rPr b="0" sz="975" i="0" u="none">
                <a:solidFill>
                  <a:srgbClr val="CBD5E1"/>
                </a:solidFill>
                <a:latin typeface="Inter"/>
              </a:rPr>
              <a:t>https://png.pngtree.com/png-clipart/20250309/original/pngtree-digital-receipt-icon-png-image_20610762.png</a:t>
            </a:r>
          </a:p>
        </p:txBody>
      </p:sp>
      <p:sp>
        <p:nvSpPr>
          <p:cNvPr id="23" name="TextBox 22"/>
          <p:cNvSpPr txBox="1"/>
          <p:nvPr/>
        </p:nvSpPr>
        <p:spPr>
          <a:xfrm>
            <a:off x="1581150" y="4312592"/>
            <a:ext cx="10125075" cy="243780"/>
          </a:xfrm>
          <a:prstGeom prst="rect">
            <a:avLst/>
          </a:prstGeom>
          <a:noFill/>
        </p:spPr>
        <p:txBody>
          <a:bodyPr wrap="square" lIns="0" rIns="0" tIns="0" bIns="0" anchor="t">
            <a:spAutoFit/>
          </a:bodyPr>
          <a:lstStyle/>
          <a:p>
            <a:pPr algn="l">
              <a:lnSpc>
                <a:spcPts val="1920"/>
              </a:lnSpc>
            </a:pPr>
            <a:r>
              <a:rPr b="0" sz="1200" i="0" u="none">
                <a:solidFill>
                  <a:srgbClr val="CBD5E1"/>
                </a:solidFill>
                <a:latin typeface="Inter"/>
              </a:rPr>
              <a:t>Source: </a:t>
            </a:r>
            <a:r>
              <a:rPr b="0" sz="1200" i="0" u="none">
                <a:solidFill>
                  <a:srgbClr val="4F46E5"/>
                </a:solidFill>
                <a:latin typeface="Inter"/>
              </a:rPr>
              <a:t>pngtree.com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