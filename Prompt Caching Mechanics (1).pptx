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1715452" y="2400448"/>
            <a:ext cx="8761095" cy="1340941"/>
          </a:xfrm>
          <a:prstGeom prst="rect">
            <a:avLst/>
          </a:prstGeom>
          <a:noFill/>
        </p:spPr>
        <p:txBody>
          <a:bodyPr wrap="square" lIns="0" rIns="0" tIns="0" bIns="0" anchor="t">
            <a:spAutoFit/>
          </a:bodyPr>
          <a:lstStyle/>
          <a:p>
            <a:pPr algn="ctr">
              <a:lnSpc>
                <a:spcPts val="5280"/>
              </a:lnSpc>
            </a:pPr>
            <a:r>
              <a:rPr b="1" sz="4800" i="0" u="none">
                <a:solidFill>
                  <a:srgbClr val="F8FAFC"/>
                </a:solidFill>
                <a:latin typeface="Fira Code"/>
              </a:rPr>
              <a:t>LLM Inference &amp; </a:t>
            </a:r>
            <a:r>
              <a:t>
</a:t>
            </a:r>
            <a:r>
              <a:rPr b="1" sz="4800" i="0" u="none">
                <a:solidFill>
                  <a:srgbClr val="10B981"/>
                </a:solidFill>
                <a:latin typeface="Fira Code"/>
              </a:rPr>
              <a:t>Prompt Caching</a:t>
            </a:r>
          </a:p>
        </p:txBody>
      </p:sp>
      <p:sp>
        <p:nvSpPr>
          <p:cNvPr id="3" name="TextBox 2"/>
          <p:cNvSpPr txBox="1"/>
          <p:nvPr/>
        </p:nvSpPr>
        <p:spPr>
          <a:xfrm>
            <a:off x="1924050" y="3931890"/>
            <a:ext cx="8343900" cy="335160"/>
          </a:xfrm>
          <a:prstGeom prst="rect">
            <a:avLst/>
          </a:prstGeom>
          <a:noFill/>
        </p:spPr>
        <p:txBody>
          <a:bodyPr wrap="square" lIns="0" rIns="0" tIns="0" bIns="0" anchor="t">
            <a:spAutoFit/>
          </a:bodyPr>
          <a:lstStyle/>
          <a:p>
            <a:pPr algn="ctr">
              <a:lnSpc>
                <a:spcPts val="2640"/>
              </a:lnSpc>
            </a:pPr>
            <a:r>
              <a:rPr b="0" sz="1650" i="0" u="none">
                <a:solidFill>
                  <a:srgbClr val="94A3B8"/>
                </a:solidFill>
                <a:latin typeface="Inter"/>
              </a:rPr>
              <a:t>A visual architecture guide to Context Windows, KV Cache, and AI Agent Economics.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334125" y="1371600"/>
            <a:ext cx="5372100" cy="3810000"/>
          </a:xfrm>
          <a:prstGeom prst="rect">
            <a:avLst/>
          </a:prstGeom>
        </p:spPr>
      </p:pic>
      <p:sp>
        <p:nvSpPr>
          <p:cNvPr id="3" name="TextBox 2"/>
          <p:cNvSpPr txBox="1"/>
          <p:nvPr/>
        </p:nvSpPr>
        <p:spPr>
          <a:xfrm>
            <a:off x="485775" y="485775"/>
            <a:ext cx="11706225" cy="504825"/>
          </a:xfrm>
          <a:prstGeom prst="rect">
            <a:avLst/>
          </a:prstGeom>
          <a:noFill/>
        </p:spPr>
        <p:txBody>
          <a:bodyPr wrap="square" lIns="0" rIns="0" tIns="0" bIns="0" anchor="t">
            <a:spAutoFit/>
          </a:bodyPr>
          <a:lstStyle/>
          <a:p>
            <a:pPr algn="l"/>
            <a:r>
              <a:rPr b="0" sz="3000" i="0" u="none">
                <a:solidFill>
                  <a:srgbClr val="F8FAFC"/>
                </a:solidFill>
                <a:latin typeface="Fira Code SemiBold"/>
              </a:rPr>
              <a:t>The Stateless Reality</a:t>
            </a:r>
          </a:p>
        </p:txBody>
      </p:sp>
      <p:sp>
        <p:nvSpPr>
          <p:cNvPr id="4" name="TextBox 3"/>
          <p:cNvSpPr txBox="1"/>
          <p:nvPr/>
        </p:nvSpPr>
        <p:spPr>
          <a:xfrm>
            <a:off x="723900" y="1371600"/>
            <a:ext cx="5133975" cy="82287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No Built-In Memory:</a:t>
            </a:r>
            <a:r>
              <a:rPr b="0" sz="1350" i="0" u="none">
                <a:solidFill>
                  <a:srgbClr val="CBD5E1"/>
                </a:solidFill>
                <a:latin typeface="Inter"/>
              </a:rPr>
              <a:t> AI Models (like Claude or GPT-4) have no internal memory between API calls. They are completely stateless.</a:t>
            </a:r>
          </a:p>
        </p:txBody>
      </p:sp>
      <p:sp>
        <p:nvSpPr>
          <p:cNvPr id="5" name="TextBox 4"/>
          <p:cNvSpPr txBox="1"/>
          <p:nvPr/>
        </p:nvSpPr>
        <p:spPr>
          <a:xfrm>
            <a:off x="723900" y="2337345"/>
            <a:ext cx="5133975" cy="82287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The Massive Payload:</a:t>
            </a:r>
            <a:r>
              <a:rPr b="0" sz="1350" i="0" u="none">
                <a:solidFill>
                  <a:srgbClr val="CBD5E1"/>
                </a:solidFill>
                <a:latin typeface="Inter"/>
              </a:rPr>
              <a:t> Because of this, an AI agent application must package the </a:t>
            </a:r>
            <a:r>
              <a:rPr b="0" sz="1350" i="1" u="none">
                <a:solidFill>
                  <a:srgbClr val="CBD5E1"/>
                </a:solidFill>
                <a:latin typeface="Inter"/>
              </a:rPr>
              <a:t>entire conversation history</a:t>
            </a:r>
            <a:r>
              <a:rPr b="0" sz="1350" i="0" u="none">
                <a:solidFill>
                  <a:srgbClr val="CBD5E1"/>
                </a:solidFill>
                <a:latin typeface="Inter"/>
              </a:rPr>
              <a:t> and send it over the internet every single time you hit enter.</a:t>
            </a:r>
          </a:p>
        </p:txBody>
      </p:sp>
      <p:sp>
        <p:nvSpPr>
          <p:cNvPr id="6" name="TextBox 5"/>
          <p:cNvSpPr txBox="1"/>
          <p:nvPr/>
        </p:nvSpPr>
        <p:spPr>
          <a:xfrm>
            <a:off x="723900" y="3303091"/>
            <a:ext cx="5133975" cy="82287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Top-to-Bottom Processing:</a:t>
            </a:r>
            <a:r>
              <a:rPr b="0" sz="1350" i="0" u="none">
                <a:solidFill>
                  <a:srgbClr val="CBD5E1"/>
                </a:solidFill>
                <a:latin typeface="Inter"/>
              </a:rPr>
              <a:t> The LLM processes this massive text payload chronologically to establish mathematical relationships between words.</a:t>
            </a:r>
          </a:p>
        </p:txBody>
      </p:sp>
      <p:sp>
        <p:nvSpPr>
          <p:cNvPr id="7" name="TextBox 6"/>
          <p:cNvSpPr txBox="1"/>
          <p:nvPr/>
        </p:nvSpPr>
        <p:spPr>
          <a:xfrm>
            <a:off x="723900" y="4268837"/>
            <a:ext cx="5133975" cy="82287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The Cost Problem:</a:t>
            </a:r>
            <a:r>
              <a:rPr b="0" sz="1350" i="0" u="none">
                <a:solidFill>
                  <a:srgbClr val="CBD5E1"/>
                </a:solidFill>
                <a:latin typeface="Inter"/>
              </a:rPr>
              <a:t> Without caching, developers pay full price for the model to re-read the exact same massive System Rules file on every single turn.</a:t>
            </a:r>
          </a:p>
        </p:txBody>
      </p:sp>
      <p:pic>
        <p:nvPicPr>
          <p:cNvPr id="8" name="Picture 7" descr="image.png"/>
          <p:cNvPicPr>
            <a:picLocks noChangeAspect="1"/>
          </p:cNvPicPr>
          <p:nvPr/>
        </p:nvPicPr>
        <p:blipFill>
          <a:blip r:embed="rId3"/>
          <a:stretch>
            <a:fillRect/>
          </a:stretch>
        </p:blipFill>
        <p:spPr>
          <a:xfrm>
            <a:off x="6343650" y="1381125"/>
            <a:ext cx="5353050" cy="3790950"/>
          </a:xfrm>
          <a:prstGeom prst="rect">
            <a:avLst/>
          </a:prstGeom>
        </p:spPr>
      </p:pic>
      <p:sp>
        <p:nvSpPr>
          <p:cNvPr id="9" name="TextBox 8"/>
          <p:cNvSpPr txBox="1"/>
          <p:nvPr/>
        </p:nvSpPr>
        <p:spPr>
          <a:xfrm>
            <a:off x="485775" y="1371600"/>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10" name="TextBox 9"/>
          <p:cNvSpPr txBox="1"/>
          <p:nvPr/>
        </p:nvSpPr>
        <p:spPr>
          <a:xfrm>
            <a:off x="485775" y="2337345"/>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11" name="TextBox 10"/>
          <p:cNvSpPr txBox="1"/>
          <p:nvPr/>
        </p:nvSpPr>
        <p:spPr>
          <a:xfrm>
            <a:off x="485775" y="3303091"/>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12" name="TextBox 11"/>
          <p:cNvSpPr txBox="1"/>
          <p:nvPr/>
        </p:nvSpPr>
        <p:spPr>
          <a:xfrm>
            <a:off x="485775" y="4268837"/>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485775" y="1371600"/>
            <a:ext cx="5372100" cy="5000625"/>
          </a:xfrm>
          <a:prstGeom prst="rect">
            <a:avLst/>
          </a:prstGeom>
        </p:spPr>
      </p:pic>
      <p:pic>
        <p:nvPicPr>
          <p:cNvPr id="3" name="Picture 2" descr="image.png"/>
          <p:cNvPicPr>
            <a:picLocks noChangeAspect="1"/>
          </p:cNvPicPr>
          <p:nvPr/>
        </p:nvPicPr>
        <p:blipFill>
          <a:blip r:embed="rId3"/>
          <a:stretch>
            <a:fillRect/>
          </a:stretch>
        </p:blipFill>
        <p:spPr>
          <a:xfrm>
            <a:off x="6334125" y="1371600"/>
            <a:ext cx="5372100" cy="5000625"/>
          </a:xfrm>
          <a:prstGeom prst="rect">
            <a:avLst/>
          </a:prstGeom>
        </p:spPr>
      </p:pic>
      <p:pic>
        <p:nvPicPr>
          <p:cNvPr id="4" name="Picture 3" descr="image.png"/>
          <p:cNvPicPr>
            <a:picLocks noChangeAspect="1"/>
          </p:cNvPicPr>
          <p:nvPr/>
        </p:nvPicPr>
        <p:blipFill>
          <a:blip r:embed="rId4"/>
          <a:stretch>
            <a:fillRect/>
          </a:stretch>
        </p:blipFill>
        <p:spPr>
          <a:xfrm>
            <a:off x="876300" y="3463230"/>
            <a:ext cx="4591050" cy="361950"/>
          </a:xfrm>
          <a:prstGeom prst="rect">
            <a:avLst/>
          </a:prstGeom>
        </p:spPr>
      </p:pic>
      <p:pic>
        <p:nvPicPr>
          <p:cNvPr id="5" name="Picture 4" descr="image.png"/>
          <p:cNvPicPr>
            <a:picLocks noChangeAspect="1"/>
          </p:cNvPicPr>
          <p:nvPr/>
        </p:nvPicPr>
        <p:blipFill>
          <a:blip r:embed="rId5"/>
          <a:stretch>
            <a:fillRect/>
          </a:stretch>
        </p:blipFill>
        <p:spPr>
          <a:xfrm>
            <a:off x="876300" y="4206180"/>
            <a:ext cx="4591050" cy="361950"/>
          </a:xfrm>
          <a:prstGeom prst="rect">
            <a:avLst/>
          </a:prstGeom>
        </p:spPr>
      </p:pic>
      <p:sp>
        <p:nvSpPr>
          <p:cNvPr id="6" name="TextBox 5"/>
          <p:cNvSpPr txBox="1"/>
          <p:nvPr/>
        </p:nvSpPr>
        <p:spPr>
          <a:xfrm>
            <a:off x="485775" y="485775"/>
            <a:ext cx="11706225" cy="504825"/>
          </a:xfrm>
          <a:prstGeom prst="rect">
            <a:avLst/>
          </a:prstGeom>
          <a:noFill/>
        </p:spPr>
        <p:txBody>
          <a:bodyPr wrap="square" lIns="0" rIns="0" tIns="0" bIns="0" anchor="t">
            <a:spAutoFit/>
          </a:bodyPr>
          <a:lstStyle/>
          <a:p>
            <a:pPr algn="l"/>
            <a:r>
              <a:rPr b="0" sz="3000" i="0" u="none">
                <a:solidFill>
                  <a:srgbClr val="F8FAFC"/>
                </a:solidFill>
                <a:latin typeface="Fira Code SemiBold"/>
              </a:rPr>
              <a:t>Turn 1: The Cold Start (No Cache)</a:t>
            </a:r>
          </a:p>
        </p:txBody>
      </p:sp>
      <p:sp>
        <p:nvSpPr>
          <p:cNvPr id="7" name="TextBox 6"/>
          <p:cNvSpPr txBox="1"/>
          <p:nvPr/>
        </p:nvSpPr>
        <p:spPr>
          <a:xfrm>
            <a:off x="876300" y="1762125"/>
            <a:ext cx="4820602" cy="323850"/>
          </a:xfrm>
          <a:prstGeom prst="rect">
            <a:avLst/>
          </a:prstGeom>
          <a:noFill/>
        </p:spPr>
        <p:txBody>
          <a:bodyPr wrap="square" lIns="0" rIns="0" tIns="0" bIns="0" anchor="t">
            <a:spAutoFit/>
          </a:bodyPr>
          <a:lstStyle/>
          <a:p>
            <a:pPr algn="l"/>
            <a:r>
              <a:rPr b="0" sz="1950" i="0" u="none">
                <a:solidFill>
                  <a:srgbClr val="F8FAFC"/>
                </a:solidFill>
                <a:latin typeface="Fira Code SemiBold"/>
              </a:rPr>
              <a:t>Payload Sent by App</a:t>
            </a:r>
          </a:p>
        </p:txBody>
      </p:sp>
      <p:sp>
        <p:nvSpPr>
          <p:cNvPr id="8" name="TextBox 7"/>
          <p:cNvSpPr txBox="1"/>
          <p:nvPr/>
        </p:nvSpPr>
        <p:spPr>
          <a:xfrm>
            <a:off x="876300" y="2400300"/>
            <a:ext cx="4591050" cy="548580"/>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The application packages the giant system instructions along with your very first prompt.</a:t>
            </a:r>
          </a:p>
        </p:txBody>
      </p:sp>
      <p:sp>
        <p:nvSpPr>
          <p:cNvPr id="9" name="TextBox 8"/>
          <p:cNvSpPr txBox="1"/>
          <p:nvPr/>
        </p:nvSpPr>
        <p:spPr>
          <a:xfrm>
            <a:off x="6724650" y="1762125"/>
            <a:ext cx="4820602" cy="323850"/>
          </a:xfrm>
          <a:prstGeom prst="rect">
            <a:avLst/>
          </a:prstGeom>
          <a:noFill/>
        </p:spPr>
        <p:txBody>
          <a:bodyPr wrap="square" lIns="0" rIns="0" tIns="0" bIns="0" anchor="t">
            <a:spAutoFit/>
          </a:bodyPr>
          <a:lstStyle/>
          <a:p>
            <a:pPr algn="l"/>
            <a:r>
              <a:rPr b="0" sz="1950" i="0" u="none">
                <a:solidFill>
                  <a:srgbClr val="F8FAFC"/>
                </a:solidFill>
                <a:latin typeface="Fira Code SemiBold"/>
              </a:rPr>
              <a:t>Server: Full Prefill</a:t>
            </a:r>
          </a:p>
        </p:txBody>
      </p:sp>
      <p:sp>
        <p:nvSpPr>
          <p:cNvPr id="10" name="TextBox 9"/>
          <p:cNvSpPr txBox="1"/>
          <p:nvPr/>
        </p:nvSpPr>
        <p:spPr>
          <a:xfrm>
            <a:off x="6724650" y="2400300"/>
            <a:ext cx="4591050" cy="822870"/>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The GPU has never seen this sequence. It must calculate the math for all 10,500 tokens and store the state in the KV Cache.</a:t>
            </a:r>
          </a:p>
        </p:txBody>
      </p:sp>
      <p:pic>
        <p:nvPicPr>
          <p:cNvPr id="11" name="Picture 10" descr="image.png"/>
          <p:cNvPicPr>
            <a:picLocks noChangeAspect="1"/>
          </p:cNvPicPr>
          <p:nvPr/>
        </p:nvPicPr>
        <p:blipFill>
          <a:blip r:embed="rId6"/>
          <a:stretch>
            <a:fillRect/>
          </a:stretch>
        </p:blipFill>
        <p:spPr>
          <a:xfrm>
            <a:off x="3100387" y="3920430"/>
            <a:ext cx="142875" cy="190500"/>
          </a:xfrm>
          <a:prstGeom prst="rect">
            <a:avLst/>
          </a:prstGeom>
        </p:spPr>
      </p:pic>
      <p:sp>
        <p:nvSpPr>
          <p:cNvPr id="12" name="TextBox 11"/>
          <p:cNvSpPr txBox="1"/>
          <p:nvPr/>
        </p:nvSpPr>
        <p:spPr>
          <a:xfrm>
            <a:off x="6962775" y="3680370"/>
            <a:ext cx="4352925" cy="27429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Compute Status:</a:t>
            </a:r>
            <a:r>
              <a:rPr b="0" sz="1350" i="0" u="none">
                <a:solidFill>
                  <a:srgbClr val="CBD5E1"/>
                </a:solidFill>
                <a:latin typeface="Inter"/>
              </a:rPr>
              <a:t> </a:t>
            </a:r>
            <a:r>
              <a:rPr b="0" sz="1350" i="0" u="none">
                <a:solidFill>
                  <a:srgbClr val="3B82F6"/>
                </a:solidFill>
                <a:latin typeface="Inter"/>
              </a:rPr>
              <a:t>Full Processing Required</a:t>
            </a:r>
          </a:p>
        </p:txBody>
      </p:sp>
      <p:sp>
        <p:nvSpPr>
          <p:cNvPr id="13" name="TextBox 12"/>
          <p:cNvSpPr txBox="1"/>
          <p:nvPr/>
        </p:nvSpPr>
        <p:spPr>
          <a:xfrm>
            <a:off x="6962775" y="4097535"/>
            <a:ext cx="4352925" cy="27429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Latency:</a:t>
            </a:r>
            <a:r>
              <a:rPr b="0" sz="1350" i="0" u="none">
                <a:solidFill>
                  <a:srgbClr val="CBD5E1"/>
                </a:solidFill>
                <a:latin typeface="Inter"/>
              </a:rPr>
              <a:t> High (Calculating heavy matrix math)</a:t>
            </a:r>
          </a:p>
        </p:txBody>
      </p:sp>
      <p:sp>
        <p:nvSpPr>
          <p:cNvPr id="14" name="TextBox 13"/>
          <p:cNvSpPr txBox="1"/>
          <p:nvPr/>
        </p:nvSpPr>
        <p:spPr>
          <a:xfrm>
            <a:off x="6962775" y="4514701"/>
            <a:ext cx="4352925" cy="27429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Cost:</a:t>
            </a:r>
            <a:r>
              <a:rPr b="0" sz="1350" i="0" u="none">
                <a:solidFill>
                  <a:srgbClr val="CBD5E1"/>
                </a:solidFill>
                <a:latin typeface="Inter"/>
              </a:rPr>
              <a:t> 10,500 Standard Input Tokens (Expensive)</a:t>
            </a:r>
          </a:p>
        </p:txBody>
      </p:sp>
      <p:sp>
        <p:nvSpPr>
          <p:cNvPr id="15" name="TextBox 14"/>
          <p:cNvSpPr txBox="1"/>
          <p:nvPr/>
        </p:nvSpPr>
        <p:spPr>
          <a:xfrm>
            <a:off x="6724650" y="3680370"/>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16" name="TextBox 15"/>
          <p:cNvSpPr txBox="1"/>
          <p:nvPr/>
        </p:nvSpPr>
        <p:spPr>
          <a:xfrm>
            <a:off x="6724650" y="4097535"/>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17" name="TextBox 16"/>
          <p:cNvSpPr txBox="1"/>
          <p:nvPr/>
        </p:nvSpPr>
        <p:spPr>
          <a:xfrm>
            <a:off x="6724650" y="4514701"/>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485775" y="1354484"/>
            <a:ext cx="5372100" cy="5034855"/>
          </a:xfrm>
          <a:prstGeom prst="rect">
            <a:avLst/>
          </a:prstGeom>
        </p:spPr>
      </p:pic>
      <p:pic>
        <p:nvPicPr>
          <p:cNvPr id="3" name="Picture 2" descr="image.png"/>
          <p:cNvPicPr>
            <a:picLocks noChangeAspect="1"/>
          </p:cNvPicPr>
          <p:nvPr/>
        </p:nvPicPr>
        <p:blipFill>
          <a:blip r:embed="rId3"/>
          <a:stretch>
            <a:fillRect/>
          </a:stretch>
        </p:blipFill>
        <p:spPr>
          <a:xfrm>
            <a:off x="6334125" y="1354484"/>
            <a:ext cx="5372100" cy="5034855"/>
          </a:xfrm>
          <a:prstGeom prst="rect">
            <a:avLst/>
          </a:prstGeom>
        </p:spPr>
      </p:pic>
      <p:pic>
        <p:nvPicPr>
          <p:cNvPr id="4" name="Picture 3" descr="image.png"/>
          <p:cNvPicPr>
            <a:picLocks noChangeAspect="1"/>
          </p:cNvPicPr>
          <p:nvPr/>
        </p:nvPicPr>
        <p:blipFill>
          <a:blip r:embed="rId4"/>
          <a:stretch>
            <a:fillRect/>
          </a:stretch>
        </p:blipFill>
        <p:spPr>
          <a:xfrm>
            <a:off x="876300" y="3350865"/>
            <a:ext cx="4591050" cy="361950"/>
          </a:xfrm>
          <a:prstGeom prst="rect">
            <a:avLst/>
          </a:prstGeom>
        </p:spPr>
      </p:pic>
      <p:pic>
        <p:nvPicPr>
          <p:cNvPr id="5" name="Picture 4" descr="image.png"/>
          <p:cNvPicPr>
            <a:picLocks noChangeAspect="1"/>
          </p:cNvPicPr>
          <p:nvPr/>
        </p:nvPicPr>
        <p:blipFill>
          <a:blip r:embed="rId5"/>
          <a:stretch>
            <a:fillRect/>
          </a:stretch>
        </p:blipFill>
        <p:spPr>
          <a:xfrm>
            <a:off x="876300" y="4093815"/>
            <a:ext cx="4591050" cy="361950"/>
          </a:xfrm>
          <a:prstGeom prst="rect">
            <a:avLst/>
          </a:prstGeom>
        </p:spPr>
      </p:pic>
      <p:pic>
        <p:nvPicPr>
          <p:cNvPr id="6" name="Picture 5" descr="image.png"/>
          <p:cNvPicPr>
            <a:picLocks noChangeAspect="1"/>
          </p:cNvPicPr>
          <p:nvPr/>
        </p:nvPicPr>
        <p:blipFill>
          <a:blip r:embed="rId6"/>
          <a:stretch>
            <a:fillRect/>
          </a:stretch>
        </p:blipFill>
        <p:spPr>
          <a:xfrm>
            <a:off x="876300" y="4836765"/>
            <a:ext cx="4591050" cy="361950"/>
          </a:xfrm>
          <a:prstGeom prst="rect">
            <a:avLst/>
          </a:prstGeom>
        </p:spPr>
      </p:pic>
      <p:pic>
        <p:nvPicPr>
          <p:cNvPr id="7" name="Picture 6" descr="image.png"/>
          <p:cNvPicPr>
            <a:picLocks noChangeAspect="1"/>
          </p:cNvPicPr>
          <p:nvPr/>
        </p:nvPicPr>
        <p:blipFill>
          <a:blip r:embed="rId7"/>
          <a:stretch>
            <a:fillRect/>
          </a:stretch>
        </p:blipFill>
        <p:spPr>
          <a:xfrm>
            <a:off x="876300" y="5579715"/>
            <a:ext cx="4591050" cy="361950"/>
          </a:xfrm>
          <a:prstGeom prst="rect">
            <a:avLst/>
          </a:prstGeom>
        </p:spPr>
      </p:pic>
      <p:sp>
        <p:nvSpPr>
          <p:cNvPr id="8" name="TextBox 7"/>
          <p:cNvSpPr txBox="1"/>
          <p:nvPr/>
        </p:nvSpPr>
        <p:spPr>
          <a:xfrm>
            <a:off x="485775" y="468659"/>
            <a:ext cx="11706225" cy="504825"/>
          </a:xfrm>
          <a:prstGeom prst="rect">
            <a:avLst/>
          </a:prstGeom>
          <a:noFill/>
        </p:spPr>
        <p:txBody>
          <a:bodyPr wrap="square" lIns="0" rIns="0" tIns="0" bIns="0" anchor="t">
            <a:spAutoFit/>
          </a:bodyPr>
          <a:lstStyle/>
          <a:p>
            <a:pPr algn="l"/>
            <a:r>
              <a:rPr b="0" sz="3000" i="0" u="none">
                <a:solidFill>
                  <a:srgbClr val="F8FAFC"/>
                </a:solidFill>
                <a:latin typeface="Fira Code SemiBold"/>
              </a:rPr>
              <a:t>Turn 2: The Cache Hit (Discounted)</a:t>
            </a:r>
          </a:p>
        </p:txBody>
      </p:sp>
      <p:sp>
        <p:nvSpPr>
          <p:cNvPr id="9" name="TextBox 8"/>
          <p:cNvSpPr txBox="1"/>
          <p:nvPr/>
        </p:nvSpPr>
        <p:spPr>
          <a:xfrm>
            <a:off x="876300" y="1745009"/>
            <a:ext cx="4820602" cy="323850"/>
          </a:xfrm>
          <a:prstGeom prst="rect">
            <a:avLst/>
          </a:prstGeom>
          <a:noFill/>
        </p:spPr>
        <p:txBody>
          <a:bodyPr wrap="square" lIns="0" rIns="0" tIns="0" bIns="0" anchor="t">
            <a:spAutoFit/>
          </a:bodyPr>
          <a:lstStyle/>
          <a:p>
            <a:pPr algn="l"/>
            <a:r>
              <a:rPr b="0" sz="1950" i="0" u="none">
                <a:solidFill>
                  <a:srgbClr val="F8FAFC"/>
                </a:solidFill>
                <a:latin typeface="Fira Code SemiBold"/>
              </a:rPr>
              <a:t>Payload Sent by App</a:t>
            </a:r>
          </a:p>
        </p:txBody>
      </p:sp>
      <p:sp>
        <p:nvSpPr>
          <p:cNvPr id="10" name="TextBox 9"/>
          <p:cNvSpPr txBox="1"/>
          <p:nvPr/>
        </p:nvSpPr>
        <p:spPr>
          <a:xfrm>
            <a:off x="876300" y="2383184"/>
            <a:ext cx="4591050" cy="548580"/>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The app sends the whole history. The server hashes it and spots an exact </a:t>
            </a:r>
            <a:r>
              <a:rPr b="1" sz="1350" i="0" u="none">
                <a:solidFill>
                  <a:srgbClr val="CBD5E1"/>
                </a:solidFill>
                <a:latin typeface="Inter"/>
              </a:rPr>
              <a:t>prefix match</a:t>
            </a:r>
            <a:r>
              <a:rPr b="0" sz="1350" i="0" u="none">
                <a:solidFill>
                  <a:srgbClr val="CBD5E1"/>
                </a:solidFill>
                <a:latin typeface="Inter"/>
              </a:rPr>
              <a:t> in its GPU RAM.</a:t>
            </a:r>
          </a:p>
        </p:txBody>
      </p:sp>
      <p:sp>
        <p:nvSpPr>
          <p:cNvPr id="11" name="TextBox 10"/>
          <p:cNvSpPr txBox="1"/>
          <p:nvPr/>
        </p:nvSpPr>
        <p:spPr>
          <a:xfrm>
            <a:off x="6724650" y="1745009"/>
            <a:ext cx="4820602" cy="323850"/>
          </a:xfrm>
          <a:prstGeom prst="rect">
            <a:avLst/>
          </a:prstGeom>
          <a:noFill/>
        </p:spPr>
        <p:txBody>
          <a:bodyPr wrap="square" lIns="0" rIns="0" tIns="0" bIns="0" anchor="t">
            <a:spAutoFit/>
          </a:bodyPr>
          <a:lstStyle/>
          <a:p>
            <a:pPr algn="l"/>
            <a:r>
              <a:rPr b="0" sz="1950" i="0" u="none">
                <a:solidFill>
                  <a:srgbClr val="F8FAFC"/>
                </a:solidFill>
                <a:latin typeface="Fira Code SemiBold"/>
              </a:rPr>
              <a:t>Server: Fast Extend</a:t>
            </a:r>
          </a:p>
        </p:txBody>
      </p:sp>
      <p:sp>
        <p:nvSpPr>
          <p:cNvPr id="12" name="TextBox 11"/>
          <p:cNvSpPr txBox="1"/>
          <p:nvPr/>
        </p:nvSpPr>
        <p:spPr>
          <a:xfrm>
            <a:off x="6724650" y="2383184"/>
            <a:ext cx="4591050" cy="548580"/>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The server instantly loads 11,500 token states from memory. It </a:t>
            </a:r>
            <a:r>
              <a:rPr b="0" sz="1350" i="1" u="none">
                <a:solidFill>
                  <a:srgbClr val="CBD5E1"/>
                </a:solidFill>
                <a:latin typeface="Inter"/>
              </a:rPr>
              <a:t>only</a:t>
            </a:r>
            <a:r>
              <a:rPr b="0" sz="1350" i="0" u="none">
                <a:solidFill>
                  <a:srgbClr val="CBD5E1"/>
                </a:solidFill>
                <a:latin typeface="Inter"/>
              </a:rPr>
              <a:t> performs math on the 200 new tokens.</a:t>
            </a:r>
          </a:p>
        </p:txBody>
      </p:sp>
      <p:pic>
        <p:nvPicPr>
          <p:cNvPr id="13" name="Picture 12" descr="image.png"/>
          <p:cNvPicPr>
            <a:picLocks noChangeAspect="1"/>
          </p:cNvPicPr>
          <p:nvPr/>
        </p:nvPicPr>
        <p:blipFill>
          <a:blip r:embed="rId8"/>
          <a:stretch>
            <a:fillRect/>
          </a:stretch>
        </p:blipFill>
        <p:spPr>
          <a:xfrm>
            <a:off x="3100387" y="3808065"/>
            <a:ext cx="142875" cy="190500"/>
          </a:xfrm>
          <a:prstGeom prst="rect">
            <a:avLst/>
          </a:prstGeom>
        </p:spPr>
      </p:pic>
      <p:pic>
        <p:nvPicPr>
          <p:cNvPr id="14" name="Picture 13" descr="image.png"/>
          <p:cNvPicPr>
            <a:picLocks noChangeAspect="1"/>
          </p:cNvPicPr>
          <p:nvPr/>
        </p:nvPicPr>
        <p:blipFill>
          <a:blip r:embed="rId8"/>
          <a:stretch>
            <a:fillRect/>
          </a:stretch>
        </p:blipFill>
        <p:spPr>
          <a:xfrm>
            <a:off x="3100387" y="4551015"/>
            <a:ext cx="142875" cy="190500"/>
          </a:xfrm>
          <a:prstGeom prst="rect">
            <a:avLst/>
          </a:prstGeom>
        </p:spPr>
      </p:pic>
      <p:pic>
        <p:nvPicPr>
          <p:cNvPr id="15" name="Picture 14" descr="image.png"/>
          <p:cNvPicPr>
            <a:picLocks noChangeAspect="1"/>
          </p:cNvPicPr>
          <p:nvPr/>
        </p:nvPicPr>
        <p:blipFill>
          <a:blip r:embed="rId8"/>
          <a:stretch>
            <a:fillRect/>
          </a:stretch>
        </p:blipFill>
        <p:spPr>
          <a:xfrm>
            <a:off x="3100387" y="5293965"/>
            <a:ext cx="142875" cy="190500"/>
          </a:xfrm>
          <a:prstGeom prst="rect">
            <a:avLst/>
          </a:prstGeom>
        </p:spPr>
      </p:pic>
      <p:sp>
        <p:nvSpPr>
          <p:cNvPr id="16" name="TextBox 15"/>
          <p:cNvSpPr txBox="1"/>
          <p:nvPr/>
        </p:nvSpPr>
        <p:spPr>
          <a:xfrm>
            <a:off x="6962775" y="3293715"/>
            <a:ext cx="4352925" cy="27429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Compute Status:</a:t>
            </a:r>
            <a:r>
              <a:rPr b="0" sz="1350" i="0" u="none">
                <a:solidFill>
                  <a:srgbClr val="CBD5E1"/>
                </a:solidFill>
                <a:latin typeface="Inter"/>
              </a:rPr>
              <a:t> </a:t>
            </a:r>
            <a:r>
              <a:rPr b="0" sz="1350" i="0" u="none">
                <a:solidFill>
                  <a:srgbClr val="10B981"/>
                </a:solidFill>
                <a:latin typeface="Inter"/>
              </a:rPr>
              <a:t>Skipped 98% of processing</a:t>
            </a:r>
          </a:p>
        </p:txBody>
      </p:sp>
      <p:sp>
        <p:nvSpPr>
          <p:cNvPr id="17" name="TextBox 16"/>
          <p:cNvSpPr txBox="1"/>
          <p:nvPr/>
        </p:nvSpPr>
        <p:spPr>
          <a:xfrm>
            <a:off x="6962775" y="3710880"/>
            <a:ext cx="4352925" cy="54858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Latency:</a:t>
            </a:r>
            <a:r>
              <a:rPr b="0" sz="1350" i="0" u="none">
                <a:solidFill>
                  <a:srgbClr val="CBD5E1"/>
                </a:solidFill>
                <a:latin typeface="Inter"/>
              </a:rPr>
              <a:t> Nearly Instant (Time-to-first-token drops drastically)</a:t>
            </a:r>
          </a:p>
        </p:txBody>
      </p:sp>
      <p:sp>
        <p:nvSpPr>
          <p:cNvPr id="18" name="TextBox 17"/>
          <p:cNvSpPr txBox="1"/>
          <p:nvPr/>
        </p:nvSpPr>
        <p:spPr>
          <a:xfrm>
            <a:off x="6962775" y="4402335"/>
            <a:ext cx="4352925" cy="54858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Cost:</a:t>
            </a:r>
            <a:r>
              <a:rPr b="0" sz="1350" i="0" u="none">
                <a:solidFill>
                  <a:srgbClr val="CBD5E1"/>
                </a:solidFill>
                <a:latin typeface="Inter"/>
              </a:rPr>
              <a:t> 11.5k Cached Tokens (Highly Discounted) + 200 Standard Tokens</a:t>
            </a:r>
          </a:p>
        </p:txBody>
      </p:sp>
      <p:sp>
        <p:nvSpPr>
          <p:cNvPr id="19" name="TextBox 18"/>
          <p:cNvSpPr txBox="1"/>
          <p:nvPr/>
        </p:nvSpPr>
        <p:spPr>
          <a:xfrm>
            <a:off x="6724650" y="3293715"/>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20" name="TextBox 19"/>
          <p:cNvSpPr txBox="1"/>
          <p:nvPr/>
        </p:nvSpPr>
        <p:spPr>
          <a:xfrm>
            <a:off x="6724650" y="3710880"/>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21" name="TextBox 20"/>
          <p:cNvSpPr txBox="1"/>
          <p:nvPr/>
        </p:nvSpPr>
        <p:spPr>
          <a:xfrm>
            <a:off x="6724650" y="4402335"/>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485775" y="1371600"/>
            <a:ext cx="3549699" cy="4253656"/>
          </a:xfrm>
          <a:prstGeom prst="rect">
            <a:avLst/>
          </a:prstGeom>
        </p:spPr>
      </p:pic>
      <p:pic>
        <p:nvPicPr>
          <p:cNvPr id="3" name="Picture 2" descr="image.png"/>
          <p:cNvPicPr>
            <a:picLocks noChangeAspect="1"/>
          </p:cNvPicPr>
          <p:nvPr/>
        </p:nvPicPr>
        <p:blipFill>
          <a:blip r:embed="rId3"/>
          <a:stretch>
            <a:fillRect/>
          </a:stretch>
        </p:blipFill>
        <p:spPr>
          <a:xfrm>
            <a:off x="4321224" y="1371600"/>
            <a:ext cx="3549699" cy="4253656"/>
          </a:xfrm>
          <a:prstGeom prst="rect">
            <a:avLst/>
          </a:prstGeom>
        </p:spPr>
      </p:pic>
      <p:pic>
        <p:nvPicPr>
          <p:cNvPr id="4" name="Picture 3" descr="image.png"/>
          <p:cNvPicPr>
            <a:picLocks noChangeAspect="1"/>
          </p:cNvPicPr>
          <p:nvPr/>
        </p:nvPicPr>
        <p:blipFill>
          <a:blip r:embed="rId4"/>
          <a:stretch>
            <a:fillRect/>
          </a:stretch>
        </p:blipFill>
        <p:spPr>
          <a:xfrm>
            <a:off x="8156674" y="1371600"/>
            <a:ext cx="3549699" cy="4253656"/>
          </a:xfrm>
          <a:prstGeom prst="rect">
            <a:avLst/>
          </a:prstGeom>
        </p:spPr>
      </p:pic>
      <p:sp>
        <p:nvSpPr>
          <p:cNvPr id="5" name="TextBox 4"/>
          <p:cNvSpPr txBox="1"/>
          <p:nvPr/>
        </p:nvSpPr>
        <p:spPr>
          <a:xfrm>
            <a:off x="485775" y="485775"/>
            <a:ext cx="11706225" cy="504825"/>
          </a:xfrm>
          <a:prstGeom prst="rect">
            <a:avLst/>
          </a:prstGeom>
          <a:noFill/>
        </p:spPr>
        <p:txBody>
          <a:bodyPr wrap="square" lIns="0" rIns="0" tIns="0" bIns="0" anchor="t">
            <a:spAutoFit/>
          </a:bodyPr>
          <a:lstStyle/>
          <a:p>
            <a:pPr algn="l"/>
            <a:r>
              <a:rPr b="0" sz="3000" i="0" u="none">
                <a:solidFill>
                  <a:srgbClr val="F8FAFC"/>
                </a:solidFill>
                <a:latin typeface="Fira Code SemiBold"/>
              </a:rPr>
              <a:t>The Golden Rules of Context Caching</a:t>
            </a:r>
          </a:p>
        </p:txBody>
      </p:sp>
      <p:sp>
        <p:nvSpPr>
          <p:cNvPr id="6" name="TextBox 5"/>
          <p:cNvSpPr txBox="1"/>
          <p:nvPr/>
        </p:nvSpPr>
        <p:spPr>
          <a:xfrm>
            <a:off x="781050" y="2276475"/>
            <a:ext cx="2560320" cy="323850"/>
          </a:xfrm>
          <a:prstGeom prst="rect">
            <a:avLst/>
          </a:prstGeom>
          <a:noFill/>
        </p:spPr>
        <p:txBody>
          <a:bodyPr wrap="square" lIns="0" rIns="0" tIns="0" bIns="0" anchor="t">
            <a:spAutoFit/>
          </a:bodyPr>
          <a:lstStyle/>
          <a:p>
            <a:pPr algn="l"/>
            <a:r>
              <a:rPr b="0" sz="1950" i="0" u="none">
                <a:solidFill>
                  <a:srgbClr val="F8FAFC"/>
                </a:solidFill>
                <a:latin typeface="Fira Code SemiBold"/>
              </a:rPr>
              <a:t>The Prefix Break</a:t>
            </a:r>
          </a:p>
        </p:txBody>
      </p:sp>
      <p:sp>
        <p:nvSpPr>
          <p:cNvPr id="7" name="TextBox 6"/>
          <p:cNvSpPr txBox="1"/>
          <p:nvPr/>
        </p:nvSpPr>
        <p:spPr>
          <a:xfrm>
            <a:off x="781050" y="2914650"/>
            <a:ext cx="2959149" cy="1920031"/>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Cached text must be an exact prefix. If you change a single character in the System Rules at the top of the prompt, the math chain breaks. The cache drops, and everything below that edit must be re-computed at full price.</a:t>
            </a:r>
          </a:p>
        </p:txBody>
      </p:sp>
      <p:sp>
        <p:nvSpPr>
          <p:cNvPr id="8" name="TextBox 7"/>
          <p:cNvSpPr txBox="1"/>
          <p:nvPr/>
        </p:nvSpPr>
        <p:spPr>
          <a:xfrm>
            <a:off x="4616499" y="2276475"/>
            <a:ext cx="3107107" cy="647700"/>
          </a:xfrm>
          <a:prstGeom prst="rect">
            <a:avLst/>
          </a:prstGeom>
          <a:noFill/>
        </p:spPr>
        <p:txBody>
          <a:bodyPr wrap="square" lIns="0" rIns="0" tIns="0" bIns="0" anchor="t">
            <a:spAutoFit/>
          </a:bodyPr>
          <a:lstStyle/>
          <a:p>
            <a:pPr algn="l"/>
            <a:r>
              <a:rPr b="0" sz="1950" i="0" u="none">
                <a:solidFill>
                  <a:srgbClr val="F8FAFC"/>
                </a:solidFill>
                <a:latin typeface="Fira Code SemiBold"/>
              </a:rPr>
              <a:t>Tool Result Clearing</a:t>
            </a:r>
          </a:p>
        </p:txBody>
      </p:sp>
      <p:sp>
        <p:nvSpPr>
          <p:cNvPr id="9" name="TextBox 8"/>
          <p:cNvSpPr txBox="1"/>
          <p:nvPr/>
        </p:nvSpPr>
        <p:spPr>
          <a:xfrm>
            <a:off x="4616499" y="3238500"/>
            <a:ext cx="2959149" cy="1920031"/>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To prevent the cache from growing endlessly, modern agents summarize massive tool outputs (like web pages) and then quietly replace the huge text blob in the history with a tiny summary placeholder on the next turn.</a:t>
            </a:r>
          </a:p>
        </p:txBody>
      </p:sp>
      <p:sp>
        <p:nvSpPr>
          <p:cNvPr id="10" name="TextBox 9"/>
          <p:cNvSpPr txBox="1"/>
          <p:nvPr/>
        </p:nvSpPr>
        <p:spPr>
          <a:xfrm>
            <a:off x="8451949" y="2276475"/>
            <a:ext cx="1760220" cy="323850"/>
          </a:xfrm>
          <a:prstGeom prst="rect">
            <a:avLst/>
          </a:prstGeom>
          <a:noFill/>
        </p:spPr>
        <p:txBody>
          <a:bodyPr wrap="square" lIns="0" rIns="0" tIns="0" bIns="0" anchor="t">
            <a:spAutoFit/>
          </a:bodyPr>
          <a:lstStyle/>
          <a:p>
            <a:pPr algn="l"/>
            <a:r>
              <a:rPr b="0" sz="1950" i="0" u="none">
                <a:solidFill>
                  <a:srgbClr val="F8FAFC"/>
                </a:solidFill>
                <a:latin typeface="Fira Code SemiBold"/>
              </a:rPr>
              <a:t>Radix Trees</a:t>
            </a:r>
          </a:p>
        </p:txBody>
      </p:sp>
      <p:sp>
        <p:nvSpPr>
          <p:cNvPr id="11" name="TextBox 10"/>
          <p:cNvSpPr txBox="1"/>
          <p:nvPr/>
        </p:nvSpPr>
        <p:spPr>
          <a:xfrm>
            <a:off x="8451949" y="2914650"/>
            <a:ext cx="2959149" cy="1920031"/>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Inference servers use Radix Trees. If 100 different developers are running the exact same default System Prompt, the server computes it once and shares that "trunk" in GPU memory across all 100 sessions.</a:t>
            </a:r>
          </a:p>
        </p:txBody>
      </p:sp>
      <p:pic>
        <p:nvPicPr>
          <p:cNvPr id="12" name="Picture 11" descr="image.png"/>
          <p:cNvPicPr>
            <a:picLocks noChangeAspect="1"/>
          </p:cNvPicPr>
          <p:nvPr/>
        </p:nvPicPr>
        <p:blipFill>
          <a:blip r:embed="rId5"/>
          <a:stretch>
            <a:fillRect/>
          </a:stretch>
        </p:blipFill>
        <p:spPr>
          <a:xfrm>
            <a:off x="781050" y="1704975"/>
            <a:ext cx="428625" cy="342900"/>
          </a:xfrm>
          <a:prstGeom prst="rect">
            <a:avLst/>
          </a:prstGeom>
        </p:spPr>
      </p:pic>
      <p:pic>
        <p:nvPicPr>
          <p:cNvPr id="13" name="Picture 12" descr="image.png"/>
          <p:cNvPicPr>
            <a:picLocks noChangeAspect="1"/>
          </p:cNvPicPr>
          <p:nvPr/>
        </p:nvPicPr>
        <p:blipFill>
          <a:blip r:embed="rId6"/>
          <a:stretch>
            <a:fillRect/>
          </a:stretch>
        </p:blipFill>
        <p:spPr>
          <a:xfrm>
            <a:off x="4616499" y="1704975"/>
            <a:ext cx="390525" cy="342900"/>
          </a:xfrm>
          <a:prstGeom prst="rect">
            <a:avLst/>
          </a:prstGeom>
        </p:spPr>
      </p:pic>
      <p:pic>
        <p:nvPicPr>
          <p:cNvPr id="14" name="Picture 13" descr="image.png"/>
          <p:cNvPicPr>
            <a:picLocks noChangeAspect="1"/>
          </p:cNvPicPr>
          <p:nvPr/>
        </p:nvPicPr>
        <p:blipFill>
          <a:blip r:embed="rId7"/>
          <a:stretch>
            <a:fillRect/>
          </a:stretch>
        </p:blipFill>
        <p:spPr>
          <a:xfrm>
            <a:off x="8451949" y="1704975"/>
            <a:ext cx="428625" cy="3429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485775" y="1371600"/>
            <a:ext cx="3549699" cy="4343102"/>
          </a:xfrm>
          <a:prstGeom prst="rect">
            <a:avLst/>
          </a:prstGeom>
        </p:spPr>
      </p:pic>
      <p:pic>
        <p:nvPicPr>
          <p:cNvPr id="3" name="Picture 2" descr="image.png"/>
          <p:cNvPicPr>
            <a:picLocks noChangeAspect="1"/>
          </p:cNvPicPr>
          <p:nvPr/>
        </p:nvPicPr>
        <p:blipFill>
          <a:blip r:embed="rId3"/>
          <a:stretch>
            <a:fillRect/>
          </a:stretch>
        </p:blipFill>
        <p:spPr>
          <a:xfrm>
            <a:off x="4321224" y="1371600"/>
            <a:ext cx="3549699" cy="4343102"/>
          </a:xfrm>
          <a:prstGeom prst="rect">
            <a:avLst/>
          </a:prstGeom>
        </p:spPr>
      </p:pic>
      <p:pic>
        <p:nvPicPr>
          <p:cNvPr id="4" name="Picture 3" descr="image.png"/>
          <p:cNvPicPr>
            <a:picLocks noChangeAspect="1"/>
          </p:cNvPicPr>
          <p:nvPr/>
        </p:nvPicPr>
        <p:blipFill>
          <a:blip r:embed="rId4"/>
          <a:stretch>
            <a:fillRect/>
          </a:stretch>
        </p:blipFill>
        <p:spPr>
          <a:xfrm>
            <a:off x="8156674" y="1371600"/>
            <a:ext cx="3549699" cy="4343102"/>
          </a:xfrm>
          <a:prstGeom prst="rect">
            <a:avLst/>
          </a:prstGeom>
        </p:spPr>
      </p:pic>
      <p:pic>
        <p:nvPicPr>
          <p:cNvPr id="5" name="Picture 4" descr="image.png"/>
          <p:cNvPicPr>
            <a:picLocks noChangeAspect="1"/>
          </p:cNvPicPr>
          <p:nvPr/>
        </p:nvPicPr>
        <p:blipFill>
          <a:blip r:embed="rId5"/>
          <a:stretch>
            <a:fillRect/>
          </a:stretch>
        </p:blipFill>
        <p:spPr>
          <a:xfrm>
            <a:off x="685800" y="1571625"/>
            <a:ext cx="3149649" cy="1905000"/>
          </a:xfrm>
          <a:prstGeom prst="rect">
            <a:avLst/>
          </a:prstGeom>
        </p:spPr>
      </p:pic>
      <p:pic>
        <p:nvPicPr>
          <p:cNvPr id="6" name="Picture 5" descr="image.png"/>
          <p:cNvPicPr>
            <a:picLocks noChangeAspect="1"/>
          </p:cNvPicPr>
          <p:nvPr/>
        </p:nvPicPr>
        <p:blipFill>
          <a:blip r:embed="rId6"/>
          <a:stretch>
            <a:fillRect/>
          </a:stretch>
        </p:blipFill>
        <p:spPr>
          <a:xfrm>
            <a:off x="4521249" y="1571625"/>
            <a:ext cx="3149649" cy="1905000"/>
          </a:xfrm>
          <a:prstGeom prst="rect">
            <a:avLst/>
          </a:prstGeom>
        </p:spPr>
      </p:pic>
      <p:pic>
        <p:nvPicPr>
          <p:cNvPr id="7" name="Picture 6" descr="image.png"/>
          <p:cNvPicPr>
            <a:picLocks noChangeAspect="1"/>
          </p:cNvPicPr>
          <p:nvPr/>
        </p:nvPicPr>
        <p:blipFill>
          <a:blip r:embed="rId6"/>
          <a:stretch>
            <a:fillRect/>
          </a:stretch>
        </p:blipFill>
        <p:spPr>
          <a:xfrm>
            <a:off x="8356699" y="1571625"/>
            <a:ext cx="3149649" cy="1905000"/>
          </a:xfrm>
          <a:prstGeom prst="rect">
            <a:avLst/>
          </a:prstGeom>
        </p:spPr>
      </p:pic>
      <p:sp>
        <p:nvSpPr>
          <p:cNvPr id="8" name="TextBox 7"/>
          <p:cNvSpPr txBox="1"/>
          <p:nvPr/>
        </p:nvSpPr>
        <p:spPr>
          <a:xfrm>
            <a:off x="485775" y="485775"/>
            <a:ext cx="11706225" cy="504825"/>
          </a:xfrm>
          <a:prstGeom prst="rect">
            <a:avLst/>
          </a:prstGeom>
          <a:noFill/>
        </p:spPr>
        <p:txBody>
          <a:bodyPr wrap="square" lIns="0" rIns="0" tIns="0" bIns="0" anchor="t">
            <a:spAutoFit/>
          </a:bodyPr>
          <a:lstStyle/>
          <a:p>
            <a:pPr algn="l"/>
            <a:r>
              <a:rPr b="0" sz="3000" i="0" u="none">
                <a:solidFill>
                  <a:srgbClr val="EF4444"/>
                </a:solidFill>
                <a:latin typeface="Fira Code SemiBold"/>
              </a:rPr>
              <a:t>The Expiration Penalty</a:t>
            </a:r>
          </a:p>
        </p:txBody>
      </p:sp>
      <p:sp>
        <p:nvSpPr>
          <p:cNvPr id="9" name="TextBox 8"/>
          <p:cNvSpPr txBox="1"/>
          <p:nvPr/>
        </p:nvSpPr>
        <p:spPr>
          <a:xfrm>
            <a:off x="685800" y="3667125"/>
            <a:ext cx="3307132" cy="323850"/>
          </a:xfrm>
          <a:prstGeom prst="rect">
            <a:avLst/>
          </a:prstGeom>
          <a:noFill/>
        </p:spPr>
        <p:txBody>
          <a:bodyPr wrap="square" lIns="0" rIns="0" tIns="0" bIns="0" anchor="t">
            <a:spAutoFit/>
          </a:bodyPr>
          <a:lstStyle/>
          <a:p>
            <a:pPr algn="l"/>
            <a:r>
              <a:rPr b="0" sz="1950" i="0" u="none">
                <a:solidFill>
                  <a:srgbClr val="F8FAFC"/>
                </a:solidFill>
                <a:latin typeface="Fira Code SemiBold"/>
              </a:rPr>
              <a:t>1. The Timer Starts</a:t>
            </a:r>
          </a:p>
        </p:txBody>
      </p:sp>
      <p:sp>
        <p:nvSpPr>
          <p:cNvPr id="10" name="TextBox 9"/>
          <p:cNvSpPr txBox="1"/>
          <p:nvPr/>
        </p:nvSpPr>
        <p:spPr>
          <a:xfrm>
            <a:off x="685800" y="4143375"/>
            <a:ext cx="3149649" cy="975121"/>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If you stop sending prompts, the API provider holds your KV cache in memory for a limited Time-To-Live (usually 5 to 60 minutes, depending on the tier).</a:t>
            </a:r>
          </a:p>
        </p:txBody>
      </p:sp>
      <p:sp>
        <p:nvSpPr>
          <p:cNvPr id="11" name="TextBox 10"/>
          <p:cNvSpPr txBox="1"/>
          <p:nvPr/>
        </p:nvSpPr>
        <p:spPr>
          <a:xfrm>
            <a:off x="4521249" y="3667125"/>
            <a:ext cx="3307132" cy="323850"/>
          </a:xfrm>
          <a:prstGeom prst="rect">
            <a:avLst/>
          </a:prstGeom>
          <a:noFill/>
        </p:spPr>
        <p:txBody>
          <a:bodyPr wrap="square" lIns="0" rIns="0" tIns="0" bIns="0" anchor="t">
            <a:spAutoFit/>
          </a:bodyPr>
          <a:lstStyle/>
          <a:p>
            <a:pPr algn="l"/>
            <a:r>
              <a:rPr b="0" sz="1950" i="0" u="none">
                <a:solidFill>
                  <a:srgbClr val="F8FAFC"/>
                </a:solidFill>
                <a:latin typeface="Fira Code SemiBold"/>
              </a:rPr>
              <a:t>2. Cache Eviction</a:t>
            </a:r>
          </a:p>
        </p:txBody>
      </p:sp>
      <p:sp>
        <p:nvSpPr>
          <p:cNvPr id="12" name="TextBox 11"/>
          <p:cNvSpPr txBox="1"/>
          <p:nvPr/>
        </p:nvSpPr>
        <p:spPr>
          <a:xfrm>
            <a:off x="4521249" y="4143375"/>
            <a:ext cx="3149649" cy="975121"/>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If the timer expires while you are away, the server deletes your conversation state from RAM to make room for other active, paying customers.</a:t>
            </a:r>
          </a:p>
        </p:txBody>
      </p:sp>
      <p:sp>
        <p:nvSpPr>
          <p:cNvPr id="13" name="TextBox 12"/>
          <p:cNvSpPr txBox="1"/>
          <p:nvPr/>
        </p:nvSpPr>
        <p:spPr>
          <a:xfrm>
            <a:off x="8356699" y="3667125"/>
            <a:ext cx="3307132" cy="323850"/>
          </a:xfrm>
          <a:prstGeom prst="rect">
            <a:avLst/>
          </a:prstGeom>
          <a:noFill/>
        </p:spPr>
        <p:txBody>
          <a:bodyPr wrap="square" lIns="0" rIns="0" tIns="0" bIns="0" anchor="t">
            <a:spAutoFit/>
          </a:bodyPr>
          <a:lstStyle/>
          <a:p>
            <a:pPr algn="l"/>
            <a:r>
              <a:rPr b="0" sz="1950" i="0" u="none">
                <a:solidFill>
                  <a:srgbClr val="F8FAFC"/>
                </a:solidFill>
                <a:latin typeface="Fira Code SemiBold"/>
              </a:rPr>
              <a:t>3. The Penalty</a:t>
            </a:r>
          </a:p>
        </p:txBody>
      </p:sp>
      <p:sp>
        <p:nvSpPr>
          <p:cNvPr id="14" name="TextBox 13"/>
          <p:cNvSpPr txBox="1"/>
          <p:nvPr/>
        </p:nvSpPr>
        <p:spPr>
          <a:xfrm>
            <a:off x="8356699" y="4143375"/>
            <a:ext cx="3149649" cy="1218902"/>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When you return and send Turn 11, the server is forced to run a Cold Start on the entire accumulated history. You pay full price for thousands of tokens all over again.</a:t>
            </a:r>
          </a:p>
        </p:txBody>
      </p:sp>
      <p:pic>
        <p:nvPicPr>
          <p:cNvPr id="15" name="Picture 14" descr="image.png"/>
          <p:cNvPicPr>
            <a:picLocks noChangeAspect="1"/>
          </p:cNvPicPr>
          <p:nvPr/>
        </p:nvPicPr>
        <p:blipFill>
          <a:blip r:embed="rId7"/>
          <a:stretch>
            <a:fillRect/>
          </a:stretch>
        </p:blipFill>
        <p:spPr>
          <a:xfrm>
            <a:off x="695325" y="1581150"/>
            <a:ext cx="3130599" cy="1885950"/>
          </a:xfrm>
          <a:prstGeom prst="rect">
            <a:avLst/>
          </a:prstGeom>
        </p:spPr>
      </p:pic>
      <p:pic>
        <p:nvPicPr>
          <p:cNvPr id="16" name="Picture 15" descr="image.png"/>
          <p:cNvPicPr>
            <a:picLocks noChangeAspect="1"/>
          </p:cNvPicPr>
          <p:nvPr/>
        </p:nvPicPr>
        <p:blipFill>
          <a:blip r:embed="rId8"/>
          <a:stretch>
            <a:fillRect/>
          </a:stretch>
        </p:blipFill>
        <p:spPr>
          <a:xfrm>
            <a:off x="4530774" y="1581150"/>
            <a:ext cx="3130599" cy="1885950"/>
          </a:xfrm>
          <a:prstGeom prst="rect">
            <a:avLst/>
          </a:prstGeom>
        </p:spPr>
      </p:pic>
      <p:pic>
        <p:nvPicPr>
          <p:cNvPr id="17" name="Picture 16" descr="image.png"/>
          <p:cNvPicPr>
            <a:picLocks noChangeAspect="1"/>
          </p:cNvPicPr>
          <p:nvPr/>
        </p:nvPicPr>
        <p:blipFill>
          <a:blip r:embed="rId9"/>
          <a:stretch>
            <a:fillRect/>
          </a:stretch>
        </p:blipFill>
        <p:spPr>
          <a:xfrm>
            <a:off x="8366224" y="1581150"/>
            <a:ext cx="3130599" cy="188595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334125" y="1371600"/>
            <a:ext cx="5372100" cy="3810000"/>
          </a:xfrm>
          <a:prstGeom prst="rect">
            <a:avLst/>
          </a:prstGeom>
        </p:spPr>
      </p:pic>
      <p:sp>
        <p:nvSpPr>
          <p:cNvPr id="3" name="TextBox 2"/>
          <p:cNvSpPr txBox="1"/>
          <p:nvPr/>
        </p:nvSpPr>
        <p:spPr>
          <a:xfrm>
            <a:off x="485775" y="485775"/>
            <a:ext cx="11706225" cy="504825"/>
          </a:xfrm>
          <a:prstGeom prst="rect">
            <a:avLst/>
          </a:prstGeom>
          <a:noFill/>
        </p:spPr>
        <p:txBody>
          <a:bodyPr wrap="square" lIns="0" rIns="0" tIns="0" bIns="0" anchor="t">
            <a:spAutoFit/>
          </a:bodyPr>
          <a:lstStyle/>
          <a:p>
            <a:pPr algn="l"/>
            <a:r>
              <a:rPr b="0" sz="3000" i="0" u="none">
                <a:solidFill>
                  <a:srgbClr val="F8FAFC"/>
                </a:solidFill>
                <a:latin typeface="Fira Code SemiBold"/>
              </a:rPr>
              <a:t>Why Only 5 Minutes? The Physics of VRAM</a:t>
            </a:r>
          </a:p>
        </p:txBody>
      </p:sp>
      <p:sp>
        <p:nvSpPr>
          <p:cNvPr id="4" name="TextBox 3"/>
          <p:cNvSpPr txBox="1"/>
          <p:nvPr/>
        </p:nvSpPr>
        <p:spPr>
          <a:xfrm>
            <a:off x="723900" y="1371600"/>
            <a:ext cx="5133975" cy="109716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It Cannot Be Saved to a Hard Drive:</a:t>
            </a:r>
            <a:r>
              <a:rPr b="0" sz="1350" i="0" u="none">
                <a:solidFill>
                  <a:srgbClr val="CBD5E1"/>
                </a:solidFill>
                <a:latin typeface="Inter"/>
              </a:rPr>
              <a:t> To be useful, the KV cache must be accessed instantly. It cannot be stored on a cheap SSD; it must live in High Bandwidth Memory (HBM) on the GPU itself.</a:t>
            </a:r>
          </a:p>
        </p:txBody>
      </p:sp>
      <p:sp>
        <p:nvSpPr>
          <p:cNvPr id="5" name="TextBox 4"/>
          <p:cNvSpPr txBox="1"/>
          <p:nvPr/>
        </p:nvSpPr>
        <p:spPr>
          <a:xfrm>
            <a:off x="723900" y="2611635"/>
            <a:ext cx="5133975" cy="109716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VRAM is Scarce &amp; Expensive:</a:t>
            </a:r>
            <a:r>
              <a:rPr b="0" sz="1350" i="0" u="none">
                <a:solidFill>
                  <a:srgbClr val="CBD5E1"/>
                </a:solidFill>
                <a:latin typeface="Inter"/>
              </a:rPr>
              <a:t> GPU RAM is currently the most expensive and scarce computing resource on the planet. A 100k token cache for a single user can consume gigabytes of this precious RAM.</a:t>
            </a:r>
          </a:p>
        </p:txBody>
      </p:sp>
      <p:sp>
        <p:nvSpPr>
          <p:cNvPr id="6" name="TextBox 5"/>
          <p:cNvSpPr txBox="1"/>
          <p:nvPr/>
        </p:nvSpPr>
        <p:spPr>
          <a:xfrm>
            <a:off x="723900" y="3851671"/>
            <a:ext cx="5133975" cy="109716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The Multi-Tenant Reality:</a:t>
            </a:r>
            <a:r>
              <a:rPr b="0" sz="1350" i="0" u="none">
                <a:solidFill>
                  <a:srgbClr val="CBD5E1"/>
                </a:solidFill>
                <a:latin typeface="Inter"/>
              </a:rPr>
              <a:t> API providers (like OpenAI or Anthropic) run multi-tenant servers. If they hold your gigabytes of cache indefinitely while you go eat lunch, they literally cannot serve other active, paying customers.</a:t>
            </a:r>
          </a:p>
        </p:txBody>
      </p:sp>
      <p:sp>
        <p:nvSpPr>
          <p:cNvPr id="7" name="TextBox 6"/>
          <p:cNvSpPr txBox="1"/>
          <p:nvPr/>
        </p:nvSpPr>
        <p:spPr>
          <a:xfrm>
            <a:off x="723900" y="5091707"/>
            <a:ext cx="5133975" cy="82287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The TTL Solution:</a:t>
            </a:r>
            <a:r>
              <a:rPr b="0" sz="1350" i="0" u="none">
                <a:solidFill>
                  <a:srgbClr val="CBD5E1"/>
                </a:solidFill>
                <a:latin typeface="Inter"/>
              </a:rPr>
              <a:t> The 5 to 60 minute Time-To-Live (TTL) limit is a strict economic and physical eviction policy to free up space on the GPU.</a:t>
            </a:r>
          </a:p>
        </p:txBody>
      </p:sp>
      <p:pic>
        <p:nvPicPr>
          <p:cNvPr id="8" name="Picture 7" descr="image.png"/>
          <p:cNvPicPr>
            <a:picLocks noChangeAspect="1"/>
          </p:cNvPicPr>
          <p:nvPr/>
        </p:nvPicPr>
        <p:blipFill>
          <a:blip r:embed="rId3"/>
          <a:stretch>
            <a:fillRect/>
          </a:stretch>
        </p:blipFill>
        <p:spPr>
          <a:xfrm>
            <a:off x="6343650" y="1381125"/>
            <a:ext cx="5353050" cy="381000"/>
          </a:xfrm>
          <a:prstGeom prst="rect">
            <a:avLst/>
          </a:prstGeom>
        </p:spPr>
      </p:pic>
      <p:sp>
        <p:nvSpPr>
          <p:cNvPr id="9" name="TextBox 8"/>
          <p:cNvSpPr txBox="1"/>
          <p:nvPr/>
        </p:nvSpPr>
        <p:spPr>
          <a:xfrm>
            <a:off x="485775" y="1371600"/>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10" name="TextBox 9"/>
          <p:cNvSpPr txBox="1"/>
          <p:nvPr/>
        </p:nvSpPr>
        <p:spPr>
          <a:xfrm>
            <a:off x="485775" y="2611635"/>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11" name="TextBox 10"/>
          <p:cNvSpPr txBox="1"/>
          <p:nvPr/>
        </p:nvSpPr>
        <p:spPr>
          <a:xfrm>
            <a:off x="485775" y="3851671"/>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12" name="TextBox 11"/>
          <p:cNvSpPr txBox="1"/>
          <p:nvPr/>
        </p:nvSpPr>
        <p:spPr>
          <a:xfrm>
            <a:off x="485775" y="5091707"/>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485775" y="1371600"/>
            <a:ext cx="3549699" cy="4527946"/>
          </a:xfrm>
          <a:prstGeom prst="rect">
            <a:avLst/>
          </a:prstGeom>
        </p:spPr>
      </p:pic>
      <p:pic>
        <p:nvPicPr>
          <p:cNvPr id="3" name="Picture 2" descr="image.png"/>
          <p:cNvPicPr>
            <a:picLocks noChangeAspect="1"/>
          </p:cNvPicPr>
          <p:nvPr/>
        </p:nvPicPr>
        <p:blipFill>
          <a:blip r:embed="rId3"/>
          <a:stretch>
            <a:fillRect/>
          </a:stretch>
        </p:blipFill>
        <p:spPr>
          <a:xfrm>
            <a:off x="4321224" y="1371600"/>
            <a:ext cx="3549699" cy="4527946"/>
          </a:xfrm>
          <a:prstGeom prst="rect">
            <a:avLst/>
          </a:prstGeom>
        </p:spPr>
      </p:pic>
      <p:pic>
        <p:nvPicPr>
          <p:cNvPr id="4" name="Picture 3" descr="image.png"/>
          <p:cNvPicPr>
            <a:picLocks noChangeAspect="1"/>
          </p:cNvPicPr>
          <p:nvPr/>
        </p:nvPicPr>
        <p:blipFill>
          <a:blip r:embed="rId4"/>
          <a:stretch>
            <a:fillRect/>
          </a:stretch>
        </p:blipFill>
        <p:spPr>
          <a:xfrm>
            <a:off x="8156674" y="1371600"/>
            <a:ext cx="3549699" cy="4527946"/>
          </a:xfrm>
          <a:prstGeom prst="rect">
            <a:avLst/>
          </a:prstGeom>
        </p:spPr>
      </p:pic>
      <p:sp>
        <p:nvSpPr>
          <p:cNvPr id="5" name="TextBox 4"/>
          <p:cNvSpPr txBox="1"/>
          <p:nvPr/>
        </p:nvSpPr>
        <p:spPr>
          <a:xfrm>
            <a:off x="485775" y="485775"/>
            <a:ext cx="11706225" cy="504825"/>
          </a:xfrm>
          <a:prstGeom prst="rect">
            <a:avLst/>
          </a:prstGeom>
          <a:noFill/>
        </p:spPr>
        <p:txBody>
          <a:bodyPr wrap="square" lIns="0" rIns="0" tIns="0" bIns="0" anchor="t">
            <a:spAutoFit/>
          </a:bodyPr>
          <a:lstStyle/>
          <a:p>
            <a:pPr algn="l"/>
            <a:r>
              <a:rPr b="0" sz="3000" i="0" u="none">
                <a:solidFill>
                  <a:srgbClr val="F8FAFC"/>
                </a:solidFill>
                <a:latin typeface="Fira Code SemiBold"/>
              </a:rPr>
              <a:t>The Hidden Downsides of Caching</a:t>
            </a:r>
          </a:p>
        </p:txBody>
      </p:sp>
      <p:sp>
        <p:nvSpPr>
          <p:cNvPr id="6" name="TextBox 5"/>
          <p:cNvSpPr txBox="1"/>
          <p:nvPr/>
        </p:nvSpPr>
        <p:spPr>
          <a:xfrm>
            <a:off x="781050" y="2276475"/>
            <a:ext cx="2240280" cy="323850"/>
          </a:xfrm>
          <a:prstGeom prst="rect">
            <a:avLst/>
          </a:prstGeom>
          <a:noFill/>
        </p:spPr>
        <p:txBody>
          <a:bodyPr wrap="square" lIns="0" rIns="0" tIns="0" bIns="0" anchor="t">
            <a:spAutoFit/>
          </a:bodyPr>
          <a:lstStyle/>
          <a:p>
            <a:pPr algn="l"/>
            <a:r>
              <a:rPr b="0" sz="1950" i="0" u="none">
                <a:solidFill>
                  <a:srgbClr val="F8FAFC"/>
                </a:solidFill>
                <a:latin typeface="Fira Code SemiBold"/>
              </a:rPr>
              <a:t>Latency Jitter</a:t>
            </a:r>
          </a:p>
        </p:txBody>
      </p:sp>
      <p:sp>
        <p:nvSpPr>
          <p:cNvPr id="7" name="TextBox 6"/>
          <p:cNvSpPr txBox="1"/>
          <p:nvPr/>
        </p:nvSpPr>
        <p:spPr>
          <a:xfrm>
            <a:off x="781050" y="2914650"/>
            <a:ext cx="2959149" cy="2194321"/>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Because a cache hit skips the prefill phase, it is lightning fast. But when the cache expires (or breaks), the sudden required prefill causes a massive latency spike. This "jitter" makes building real-time voice or synchronous chat applications very difficult.</a:t>
            </a:r>
          </a:p>
        </p:txBody>
      </p:sp>
      <p:sp>
        <p:nvSpPr>
          <p:cNvPr id="8" name="TextBox 7"/>
          <p:cNvSpPr txBox="1"/>
          <p:nvPr/>
        </p:nvSpPr>
        <p:spPr>
          <a:xfrm>
            <a:off x="4616499" y="2276475"/>
            <a:ext cx="3107107" cy="647700"/>
          </a:xfrm>
          <a:prstGeom prst="rect">
            <a:avLst/>
          </a:prstGeom>
          <a:noFill/>
        </p:spPr>
        <p:txBody>
          <a:bodyPr wrap="square" lIns="0" rIns="0" tIns="0" bIns="0" anchor="t">
            <a:spAutoFit/>
          </a:bodyPr>
          <a:lstStyle/>
          <a:p>
            <a:pPr algn="l"/>
            <a:r>
              <a:rPr b="0" sz="1950" i="0" u="none">
                <a:solidFill>
                  <a:srgbClr val="F8FAFC"/>
                </a:solidFill>
                <a:latin typeface="Fira Code SemiBold"/>
              </a:rPr>
              <a:t>Architectural Rigidity</a:t>
            </a:r>
          </a:p>
        </p:txBody>
      </p:sp>
      <p:sp>
        <p:nvSpPr>
          <p:cNvPr id="9" name="TextBox 8"/>
          <p:cNvSpPr txBox="1"/>
          <p:nvPr/>
        </p:nvSpPr>
        <p:spPr>
          <a:xfrm>
            <a:off x="4616499" y="3238500"/>
            <a:ext cx="2959149" cy="2194321"/>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Developers are forced to put all dynamic data (timestamps, user names, specific task IDs) at the very bottom of the prompt. If a routing framework accidentally injects a dynamic variable at the top, the cache is instantly destroyed for the entire payload.</a:t>
            </a:r>
          </a:p>
        </p:txBody>
      </p:sp>
      <p:sp>
        <p:nvSpPr>
          <p:cNvPr id="10" name="TextBox 9"/>
          <p:cNvSpPr txBox="1"/>
          <p:nvPr/>
        </p:nvSpPr>
        <p:spPr>
          <a:xfrm>
            <a:off x="8451949" y="2276475"/>
            <a:ext cx="3107107" cy="647700"/>
          </a:xfrm>
          <a:prstGeom prst="rect">
            <a:avLst/>
          </a:prstGeom>
          <a:noFill/>
        </p:spPr>
        <p:txBody>
          <a:bodyPr wrap="square" lIns="0" rIns="0" tIns="0" bIns="0" anchor="t">
            <a:spAutoFit/>
          </a:bodyPr>
          <a:lstStyle/>
          <a:p>
            <a:pPr algn="l"/>
            <a:r>
              <a:rPr b="0" sz="1950" i="0" u="none">
                <a:solidFill>
                  <a:srgbClr val="F8FAFC"/>
                </a:solidFill>
                <a:latin typeface="Fira Code SemiBold"/>
              </a:rPr>
              <a:t>The "Keep-Alive" Tax</a:t>
            </a:r>
          </a:p>
        </p:txBody>
      </p:sp>
      <p:sp>
        <p:nvSpPr>
          <p:cNvPr id="11" name="TextBox 10"/>
          <p:cNvSpPr txBox="1"/>
          <p:nvPr/>
        </p:nvSpPr>
        <p:spPr>
          <a:xfrm>
            <a:off x="8451949" y="3238500"/>
            <a:ext cx="2959149" cy="1920031"/>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To bypass the 5-minute limit, some enterprise API tiers offer dedicated endpoints where you pay an hourly storage fee per million tokens to keep the cache alive indefinitely. This shifts your operational costs from compute to storage.</a:t>
            </a:r>
          </a:p>
        </p:txBody>
      </p:sp>
      <p:pic>
        <p:nvPicPr>
          <p:cNvPr id="12" name="Picture 11" descr="image.png"/>
          <p:cNvPicPr>
            <a:picLocks noChangeAspect="1"/>
          </p:cNvPicPr>
          <p:nvPr/>
        </p:nvPicPr>
        <p:blipFill>
          <a:blip r:embed="rId5"/>
          <a:stretch>
            <a:fillRect/>
          </a:stretch>
        </p:blipFill>
        <p:spPr>
          <a:xfrm>
            <a:off x="781050" y="1704975"/>
            <a:ext cx="304800" cy="342900"/>
          </a:xfrm>
          <a:prstGeom prst="rect">
            <a:avLst/>
          </a:prstGeom>
        </p:spPr>
      </p:pic>
      <p:pic>
        <p:nvPicPr>
          <p:cNvPr id="13" name="Picture 12" descr="image.png"/>
          <p:cNvPicPr>
            <a:picLocks noChangeAspect="1"/>
          </p:cNvPicPr>
          <p:nvPr/>
        </p:nvPicPr>
        <p:blipFill>
          <a:blip r:embed="rId6"/>
          <a:stretch>
            <a:fillRect/>
          </a:stretch>
        </p:blipFill>
        <p:spPr>
          <a:xfrm>
            <a:off x="4616499" y="1704975"/>
            <a:ext cx="390525" cy="342900"/>
          </a:xfrm>
          <a:prstGeom prst="rect">
            <a:avLst/>
          </a:prstGeom>
        </p:spPr>
      </p:pic>
      <p:pic>
        <p:nvPicPr>
          <p:cNvPr id="14" name="Picture 13" descr="image.png"/>
          <p:cNvPicPr>
            <a:picLocks noChangeAspect="1"/>
          </p:cNvPicPr>
          <p:nvPr/>
        </p:nvPicPr>
        <p:blipFill>
          <a:blip r:embed="rId7"/>
          <a:stretch>
            <a:fillRect/>
          </a:stretch>
        </p:blipFill>
        <p:spPr>
          <a:xfrm>
            <a:off x="8451949" y="1704975"/>
            <a:ext cx="257175" cy="3429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485775" y="485775"/>
            <a:ext cx="11706225" cy="504825"/>
          </a:xfrm>
          <a:prstGeom prst="rect">
            <a:avLst/>
          </a:prstGeom>
          <a:noFill/>
        </p:spPr>
        <p:txBody>
          <a:bodyPr wrap="square" lIns="0" rIns="0" tIns="0" bIns="0" anchor="t">
            <a:spAutoFit/>
          </a:bodyPr>
          <a:lstStyle/>
          <a:p>
            <a:pPr algn="l"/>
            <a:r>
              <a:rPr b="0" sz="3000" i="0" u="none">
                <a:solidFill>
                  <a:srgbClr val="F8FAFC"/>
                </a:solidFill>
                <a:latin typeface="Fira Code SemiBold"/>
              </a:rPr>
              <a:t>Image Sources</a:t>
            </a:r>
          </a:p>
        </p:txBody>
      </p:sp>
      <p:sp>
        <p:nvSpPr>
          <p:cNvPr id="3" name="Rectangle 2"/>
          <p:cNvSpPr/>
          <p:nvPr/>
        </p:nvSpPr>
        <p:spPr>
          <a:xfrm>
            <a:off x="485775" y="1371600"/>
            <a:ext cx="11220450" cy="982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5775" y="2354460"/>
            <a:ext cx="1122045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85775" y="3139231"/>
            <a:ext cx="1122045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5775" y="2344935"/>
            <a:ext cx="11220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5775" y="2344935"/>
            <a:ext cx="11220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85775" y="3129706"/>
            <a:ext cx="11220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5775" y="3129706"/>
            <a:ext cx="11220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5775" y="3914477"/>
            <a:ext cx="11220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5775" y="3914477"/>
            <a:ext cx="11220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485775" y="1620142"/>
            <a:ext cx="857250" cy="476250"/>
          </a:xfrm>
          <a:prstGeom prst="rect">
            <a:avLst/>
          </a:prstGeom>
        </p:spPr>
      </p:pic>
      <p:sp>
        <p:nvSpPr>
          <p:cNvPr id="13" name="TextBox 12"/>
          <p:cNvSpPr txBox="1"/>
          <p:nvPr/>
        </p:nvSpPr>
        <p:spPr>
          <a:xfrm>
            <a:off x="1581150" y="1514475"/>
            <a:ext cx="10125075" cy="396180"/>
          </a:xfrm>
          <a:prstGeom prst="rect">
            <a:avLst/>
          </a:prstGeom>
          <a:noFill/>
        </p:spPr>
        <p:txBody>
          <a:bodyPr wrap="square" lIns="0" rIns="0" tIns="0" bIns="0" anchor="t">
            <a:spAutoFit/>
          </a:bodyPr>
          <a:lstStyle/>
          <a:p>
            <a:pPr algn="l">
              <a:lnSpc>
                <a:spcPts val="1560"/>
              </a:lnSpc>
            </a:pPr>
            <a:r>
              <a:rPr b="0" sz="975" i="0" u="none">
                <a:solidFill>
                  <a:srgbClr val="CBD5E1"/>
                </a:solidFill>
                <a:latin typeface="Inter"/>
              </a:rPr>
              <a:t>https://media.istockphoto.com/id/2273664489/vector/abstract-data-server-center-room-with-ai-cloud-internet-network.jpg?s=612x612&amp;w=0&amp;k=20&amp;c=v4bBB-DGsfimGj282tPvUGB0ycB-gbaw5j_I8BjApTM=</a:t>
            </a:r>
          </a:p>
        </p:txBody>
      </p:sp>
      <p:sp>
        <p:nvSpPr>
          <p:cNvPr id="14" name="TextBox 13"/>
          <p:cNvSpPr txBox="1"/>
          <p:nvPr/>
        </p:nvSpPr>
        <p:spPr>
          <a:xfrm>
            <a:off x="1581150" y="1958280"/>
            <a:ext cx="10125075" cy="243780"/>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Source: </a:t>
            </a:r>
            <a:r>
              <a:rPr b="0" sz="1200" i="0" u="none">
                <a:solidFill>
                  <a:srgbClr val="4F46E5"/>
                </a:solidFill>
                <a:latin typeface="Inter"/>
              </a:rPr>
              <a:t>www.istockphoto.com</a:t>
            </a:r>
          </a:p>
        </p:txBody>
      </p:sp>
      <p:pic>
        <p:nvPicPr>
          <p:cNvPr id="15" name="Picture 14" descr="image.png"/>
          <p:cNvPicPr>
            <a:picLocks noChangeAspect="1"/>
          </p:cNvPicPr>
          <p:nvPr/>
        </p:nvPicPr>
        <p:blipFill>
          <a:blip r:embed="rId3"/>
          <a:stretch>
            <a:fillRect/>
          </a:stretch>
        </p:blipFill>
        <p:spPr>
          <a:xfrm>
            <a:off x="485775" y="2503884"/>
            <a:ext cx="857250" cy="476250"/>
          </a:xfrm>
          <a:prstGeom prst="rect">
            <a:avLst/>
          </a:prstGeom>
        </p:spPr>
      </p:pic>
      <p:sp>
        <p:nvSpPr>
          <p:cNvPr id="16" name="TextBox 15"/>
          <p:cNvSpPr txBox="1"/>
          <p:nvPr/>
        </p:nvSpPr>
        <p:spPr>
          <a:xfrm>
            <a:off x="1581150" y="2497335"/>
            <a:ext cx="10125075" cy="198090"/>
          </a:xfrm>
          <a:prstGeom prst="rect">
            <a:avLst/>
          </a:prstGeom>
          <a:noFill/>
        </p:spPr>
        <p:txBody>
          <a:bodyPr wrap="square" lIns="0" rIns="0" tIns="0" bIns="0" anchor="t">
            <a:spAutoFit/>
          </a:bodyPr>
          <a:lstStyle/>
          <a:p>
            <a:pPr algn="l">
              <a:lnSpc>
                <a:spcPts val="1560"/>
              </a:lnSpc>
            </a:pPr>
            <a:r>
              <a:rPr b="0" sz="975" i="0" u="none">
                <a:solidFill>
                  <a:srgbClr val="CBD5E1"/>
                </a:solidFill>
                <a:latin typeface="Inter"/>
              </a:rPr>
              <a:t>https://www.lemon8-app.com/seo/image?item_id=7524593027797500471&amp;index=5&amp;sign=307450f4f5225cf446cd486ad3cc9f09</a:t>
            </a:r>
          </a:p>
        </p:txBody>
      </p:sp>
      <p:sp>
        <p:nvSpPr>
          <p:cNvPr id="17" name="TextBox 16"/>
          <p:cNvSpPr txBox="1"/>
          <p:nvPr/>
        </p:nvSpPr>
        <p:spPr>
          <a:xfrm>
            <a:off x="1581150" y="2743051"/>
            <a:ext cx="10125075" cy="243780"/>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Source: </a:t>
            </a:r>
            <a:r>
              <a:rPr b="0" sz="1200" i="0" u="none">
                <a:solidFill>
                  <a:srgbClr val="4F46E5"/>
                </a:solidFill>
                <a:latin typeface="Inter"/>
              </a:rPr>
              <a:t>www.lemon8-app.com</a:t>
            </a:r>
          </a:p>
        </p:txBody>
      </p:sp>
      <p:pic>
        <p:nvPicPr>
          <p:cNvPr id="18" name="Picture 17" descr="image.png"/>
          <p:cNvPicPr>
            <a:picLocks noChangeAspect="1"/>
          </p:cNvPicPr>
          <p:nvPr/>
        </p:nvPicPr>
        <p:blipFill>
          <a:blip r:embed="rId2"/>
          <a:stretch>
            <a:fillRect/>
          </a:stretch>
        </p:blipFill>
        <p:spPr>
          <a:xfrm>
            <a:off x="485775" y="3288655"/>
            <a:ext cx="857250" cy="476250"/>
          </a:xfrm>
          <a:prstGeom prst="rect">
            <a:avLst/>
          </a:prstGeom>
        </p:spPr>
      </p:pic>
      <p:sp>
        <p:nvSpPr>
          <p:cNvPr id="19" name="TextBox 18"/>
          <p:cNvSpPr txBox="1"/>
          <p:nvPr/>
        </p:nvSpPr>
        <p:spPr>
          <a:xfrm>
            <a:off x="1581150" y="3282106"/>
            <a:ext cx="10125075" cy="198090"/>
          </a:xfrm>
          <a:prstGeom prst="rect">
            <a:avLst/>
          </a:prstGeom>
          <a:noFill/>
        </p:spPr>
        <p:txBody>
          <a:bodyPr wrap="square" lIns="0" rIns="0" tIns="0" bIns="0" anchor="t">
            <a:spAutoFit/>
          </a:bodyPr>
          <a:lstStyle/>
          <a:p>
            <a:pPr algn="l">
              <a:lnSpc>
                <a:spcPts val="1560"/>
              </a:lnSpc>
            </a:pPr>
            <a:r>
              <a:rPr b="0" sz="975" i="0" u="none">
                <a:solidFill>
                  <a:srgbClr val="CBD5E1"/>
                </a:solidFill>
                <a:latin typeface="Inter"/>
              </a:rPr>
              <a:t>https://images.steamusercontent.com/ugc/10545518390295805987/702BD7B4517ED3BAEB52A8E4C0AB1B8D4299068F/</a:t>
            </a:r>
          </a:p>
        </p:txBody>
      </p:sp>
      <p:sp>
        <p:nvSpPr>
          <p:cNvPr id="20" name="TextBox 19"/>
          <p:cNvSpPr txBox="1"/>
          <p:nvPr/>
        </p:nvSpPr>
        <p:spPr>
          <a:xfrm>
            <a:off x="1581150" y="3527821"/>
            <a:ext cx="10125075" cy="243780"/>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Source: </a:t>
            </a:r>
            <a:r>
              <a:rPr b="0" sz="1200" i="0" u="none">
                <a:solidFill>
                  <a:srgbClr val="4F46E5"/>
                </a:solidFill>
                <a:latin typeface="Inter"/>
              </a:rPr>
              <a:t>steamcommunity.com</a:t>
            </a:r>
          </a:p>
        </p:txBody>
      </p:sp>
      <p:pic>
        <p:nvPicPr>
          <p:cNvPr id="21" name="Picture 20" descr="image.png"/>
          <p:cNvPicPr>
            <a:picLocks noChangeAspect="1"/>
          </p:cNvPicPr>
          <p:nvPr/>
        </p:nvPicPr>
        <p:blipFill>
          <a:blip r:embed="rId3"/>
          <a:stretch>
            <a:fillRect/>
          </a:stretch>
        </p:blipFill>
        <p:spPr>
          <a:xfrm>
            <a:off x="485775" y="4073425"/>
            <a:ext cx="857250" cy="476250"/>
          </a:xfrm>
          <a:prstGeom prst="rect">
            <a:avLst/>
          </a:prstGeom>
        </p:spPr>
      </p:pic>
      <p:sp>
        <p:nvSpPr>
          <p:cNvPr id="22" name="TextBox 21"/>
          <p:cNvSpPr txBox="1"/>
          <p:nvPr/>
        </p:nvSpPr>
        <p:spPr>
          <a:xfrm>
            <a:off x="1581150" y="4066877"/>
            <a:ext cx="10125075" cy="198090"/>
          </a:xfrm>
          <a:prstGeom prst="rect">
            <a:avLst/>
          </a:prstGeom>
          <a:noFill/>
        </p:spPr>
        <p:txBody>
          <a:bodyPr wrap="square" lIns="0" rIns="0" tIns="0" bIns="0" anchor="t">
            <a:spAutoFit/>
          </a:bodyPr>
          <a:lstStyle/>
          <a:p>
            <a:pPr algn="l">
              <a:lnSpc>
                <a:spcPts val="1560"/>
              </a:lnSpc>
            </a:pPr>
            <a:r>
              <a:rPr b="0" sz="975" i="0" u="none">
                <a:solidFill>
                  <a:srgbClr val="CBD5E1"/>
                </a:solidFill>
                <a:latin typeface="Inter"/>
              </a:rPr>
              <a:t>https://png.pngtree.com/png-clipart/20250309/original/pngtree-digital-receipt-icon-png-image_20610762.png</a:t>
            </a:r>
          </a:p>
        </p:txBody>
      </p:sp>
      <p:sp>
        <p:nvSpPr>
          <p:cNvPr id="23" name="TextBox 22"/>
          <p:cNvSpPr txBox="1"/>
          <p:nvPr/>
        </p:nvSpPr>
        <p:spPr>
          <a:xfrm>
            <a:off x="1581150" y="4312592"/>
            <a:ext cx="10125075" cy="243780"/>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Source: </a:t>
            </a:r>
            <a:r>
              <a:rPr b="0" sz="1200" i="0" u="none">
                <a:solidFill>
                  <a:srgbClr val="4F46E5"/>
                </a:solidFill>
                <a:latin typeface="Inter"/>
              </a:rPr>
              <a:t>pngtree.com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485775" y="485775"/>
            <a:ext cx="11706225" cy="504825"/>
          </a:xfrm>
          <a:prstGeom prst="rect">
            <a:avLst/>
          </a:prstGeom>
          <a:noFill/>
        </p:spPr>
        <p:txBody>
          <a:bodyPr wrap="square" lIns="0" rIns="0" tIns="0" bIns="0" anchor="t">
            <a:spAutoFit/>
          </a:bodyPr>
          <a:lstStyle/>
          <a:p>
            <a:pPr algn="l"/>
            <a:r>
              <a:rPr b="0" sz="3000" i="0" u="none">
                <a:solidFill>
                  <a:srgbClr val="F8FAFC"/>
                </a:solidFill>
                <a:latin typeface="Fira Code SemiBold"/>
              </a:rPr>
              <a:t>Image Sources</a:t>
            </a:r>
          </a:p>
        </p:txBody>
      </p:sp>
      <p:pic>
        <p:nvPicPr>
          <p:cNvPr id="3" name="Picture 2" descr="image.png"/>
          <p:cNvPicPr>
            <a:picLocks noChangeAspect="1"/>
          </p:cNvPicPr>
          <p:nvPr/>
        </p:nvPicPr>
        <p:blipFill>
          <a:blip r:embed="rId2"/>
          <a:stretch>
            <a:fillRect/>
          </a:stretch>
        </p:blipFill>
        <p:spPr>
          <a:xfrm>
            <a:off x="1604962" y="1521023"/>
            <a:ext cx="857250" cy="476250"/>
          </a:xfrm>
          <a:prstGeom prst="rect">
            <a:avLst/>
          </a:prstGeom>
        </p:spPr>
      </p:pic>
      <p:sp>
        <p:nvSpPr>
          <p:cNvPr id="4" name="TextBox 3"/>
          <p:cNvSpPr txBox="1"/>
          <p:nvPr/>
        </p:nvSpPr>
        <p:spPr>
          <a:xfrm>
            <a:off x="2700337" y="1514475"/>
            <a:ext cx="7886700" cy="198090"/>
          </a:xfrm>
          <a:prstGeom prst="rect">
            <a:avLst/>
          </a:prstGeom>
          <a:noFill/>
        </p:spPr>
        <p:txBody>
          <a:bodyPr wrap="square" lIns="0" rIns="0" tIns="0" bIns="0" anchor="t">
            <a:spAutoFit/>
          </a:bodyPr>
          <a:lstStyle/>
          <a:p>
            <a:pPr algn="l">
              <a:lnSpc>
                <a:spcPts val="1560"/>
              </a:lnSpc>
            </a:pPr>
            <a:r>
              <a:rPr b="0" sz="975" i="0" u="none">
                <a:solidFill>
                  <a:srgbClr val="CBD5E1"/>
                </a:solidFill>
                <a:latin typeface="Inter"/>
              </a:rPr>
              <a:t>https://images.stockcake.com/public/e/8/5/e8542361-1fc8-4701-98a5-f03ce1aacb85_large/illuminated-gpu-technology-stockcake.jpg</a:t>
            </a:r>
          </a:p>
        </p:txBody>
      </p:sp>
      <p:sp>
        <p:nvSpPr>
          <p:cNvPr id="5" name="TextBox 4"/>
          <p:cNvSpPr txBox="1"/>
          <p:nvPr/>
        </p:nvSpPr>
        <p:spPr>
          <a:xfrm>
            <a:off x="2700337" y="1760190"/>
            <a:ext cx="7886700" cy="243780"/>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Source: </a:t>
            </a:r>
            <a:r>
              <a:rPr b="0" sz="1200" i="0" u="none">
                <a:solidFill>
                  <a:srgbClr val="4F46E5"/>
                </a:solidFill>
                <a:latin typeface="Inter"/>
              </a:rPr>
              <a:t>stockcake.com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