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</ns0:sldIdLst>
  <ns0:sldSz cx="12192000" cy="6858000" type="screen4x3"/>
  <ns0:notesSz cx="6858000" cy="9144000"/>
  <ns0:embeddedFontLst>
    <ns0:embeddedFont>
      <ns0:font typeface="Plus Jakarta Sans"/>
      <ns0:bold ns1:id="rIdFont23"/>
      <ns0:boldItalic ns1:id="rIdFont24"/>
      <ns0:regular ns1:id="rIdFont25"/>
      <ns0:italic ns1:id="rIdFont26"/>
    </ns0:embeddedFont>
    <ns0:embeddedFont>
      <ns0:font typeface="JetBrains Mono"/>
      <ns0:bold ns1:id="rIdFont27"/>
      <ns0:regular ns1:id="rIdFont28"/>
    </ns0:embeddedFont>
    <ns0:embeddedFont>
      <ns0:font typeface="Space Grotesk"/>
      <ns0:bold ns1:id="rIdFont2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Font23" Type="http://schemas.openxmlformats.org/officeDocument/2006/relationships/font" Target="fonts/01a8b020-eed6-4963-8e47-a6ef0cea522b.fntdata" /><ns0:Relationship Id="rIdFont24" Type="http://schemas.openxmlformats.org/officeDocument/2006/relationships/font" Target="fonts/951c597f-063c-42dd-81b9-aa603786bd7d.fntdata" /><ns0:Relationship Id="rIdFont25" Type="http://schemas.openxmlformats.org/officeDocument/2006/relationships/font" Target="fonts/ad58fe73-d38d-4074-9962-ec0bcc411000.fntdata" /><ns0:Relationship Id="rIdFont26" Type="http://schemas.openxmlformats.org/officeDocument/2006/relationships/font" Target="fonts/9259029a-b978-4843-8b9e-a75f15cc78fd.fntdata" /><ns0:Relationship Id="rIdFont27" Type="http://schemas.openxmlformats.org/officeDocument/2006/relationships/font" Target="fonts/2eee5e7b-45e3-4274-bb28-e92081d4131d.fntdata" /><ns0:Relationship Id="rIdFont28" Type="http://schemas.openxmlformats.org/officeDocument/2006/relationships/font" Target="fonts/73005846-87d5-42ad-8cc9-340540c321a1.fntdata" /><ns0:Relationship Id="rIdFont29" Type="http://schemas.openxmlformats.org/officeDocument/2006/relationships/font" Target="fonts/ca5c7c56-2bda-4085-97c4-3561322c5fe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648200"/>
            <a:ext cx="10972800" cy="1752600"/>
          </a:xfrm>
          <a:prstGeom prst="roundRect">
            <a:avLst>
              <a:gd name="adj" fmla="val 869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95700" y="5505450"/>
            <a:ext cx="947737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43437" y="5238750"/>
            <a:ext cx="2905125" cy="57150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48562" y="5505450"/>
            <a:ext cx="947737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505301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450" y="5053012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550" y="5053012"/>
            <a:ext cx="3048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237" y="5410200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700" y="4953000"/>
            <a:ext cx="23812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1225" y="4953000"/>
            <a:ext cx="257175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0800" y="4953000"/>
            <a:ext cx="3048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437554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JetBrains Mono"/>
              </a:rPr>
              <a:t>HỘI THẢO KỸ THUẬT • SPEC 2026-07-28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2175" y="457200"/>
            <a:ext cx="2250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JetBrains Mono"/>
              </a:rPr>
              <a:t>AI AGENT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095500"/>
            <a:ext cx="11582400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b="1" sz="4500" i="0" u="none">
                <a:solidFill>
                  <a:srgbClr val="F8FAFC"/>
                </a:solidFill>
                <a:latin typeface="Space Grotesk"/>
              </a:rPr>
              <a:t>Model Context Protocol (MCP)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2914650"/>
            <a:ext cx="9286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CBD5E1"/>
                </a:solidFill>
                <a:latin typeface="Plus Jakarta Sans"/>
              </a:rPr>
              <a:t>Chuẩn kết nối phổ quát giữa AI Agent và Thế giới Công cụ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5434012"/>
            <a:ext cx="27003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Mô hình &amp; Ứng dụng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834" y="5795962"/>
            <a:ext cx="2536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"/>
              </a:rPr>
              <a:t>Claude • GPT • Gemini • 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387" y="5334000"/>
            <a:ext cx="201275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Thế giới Công cụ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5337" y="5695950"/>
            <a:ext cx="30956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"/>
              </a:rPr>
              <a:t>PostgreSQL • GitHub • K8s • Sentry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9712" y="5391150"/>
            <a:ext cx="24050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Space Grotesk"/>
              </a:rPr>
              <a:t>CỔNG USB-C (MCP)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14625"/>
            <a:ext cx="5038725" cy="241935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62725" y="2714625"/>
            <a:ext cx="5019675" cy="2419350"/>
          </a:xfrm>
          <a:prstGeom prst="roundRect">
            <a:avLst>
              <a:gd name="adj" fmla="val 629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5" y="3781425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067050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5" y="3057525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5" y="3200400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5637" y="3190875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3824287"/>
            <a:ext cx="1809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4205287"/>
            <a:ext cx="1809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4586287"/>
            <a:ext cx="1809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5625" y="3814762"/>
            <a:ext cx="2000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5625" y="4214812"/>
            <a:ext cx="1809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5625" y="4595812"/>
            <a:ext cx="13335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PHẦN 1 • KHÁI NIỆM NỀN TẢNG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LLM ≠ AI Agent: Bộ não và Cơ thể điều phối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3790950"/>
            <a:ext cx="5417343" cy="22860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Plus Jakarta Sans"/>
              </a:rPr>
              <a:t>Stateless: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Không tự lưu trí nhớ hội thoại.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171950"/>
            <a:ext cx="5417343" cy="22860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Plus Jakarta Sans"/>
              </a:rPr>
              <a:t>Cô lập: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Không tự mở kết nối mạng hay DB.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4552950"/>
            <a:ext cx="5417343" cy="22860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Plus Jakarta Sans"/>
              </a:rPr>
              <a:t>Suy luận: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Nhận văn bản và trả về ý định.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5625" y="3781425"/>
            <a:ext cx="5286375" cy="247650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E2E8F0"/>
                </a:solidFill>
                <a:latin typeface="Plus Jakarta Sans"/>
              </a:rPr>
              <a:t>Trí nhớ:</a:t>
            </a:r>
            <a:r>
              <a:rPr b="0" sz="1425" i="0" u="none">
                <a:solidFill>
                  <a:srgbClr val="E2E8F0"/>
                </a:solidFill>
                <a:latin typeface="Plus Jakarta Sans"/>
              </a:rPr>
              <a:t> Lưu trữ mảng lịch sử </a:t>
            </a:r>
            <a:r>
              <a:rPr b="0" sz="1425" i="0" u="none">
                <a:solidFill>
                  <a:srgbClr val="E2E8F0"/>
                </a:solidFill>
                <a:latin typeface="Plus Jakarta Sans"/>
              </a:rPr>
              <a:t>messages[]</a:t>
            </a:r>
            <a:r>
              <a:rPr b="0" sz="1425" i="0" u="none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5625" y="4181475"/>
            <a:ext cx="5286375" cy="22860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E2E8F0"/>
                </a:solidFill>
                <a:latin typeface="Plus Jakarta Sans"/>
              </a:rPr>
              <a:t>Vòng lặp:</a:t>
            </a:r>
            <a:r>
              <a:rPr b="0" sz="1425" i="0" u="none">
                <a:solidFill>
                  <a:srgbClr val="E2E8F0"/>
                </a:solidFill>
                <a:latin typeface="Plus Jakarta Sans"/>
              </a:rPr>
              <a:t> Điều phối luồng suy luận Agentic.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625" y="4562475"/>
            <a:ext cx="5286375" cy="2286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E2E8F0"/>
                </a:solidFill>
                <a:latin typeface="Plus Jakarta Sans"/>
              </a:rPr>
              <a:t>Tay chân:</a:t>
            </a:r>
            <a:r>
              <a:rPr b="0" sz="1425" i="0" u="none">
                <a:solidFill>
                  <a:srgbClr val="E2E8F0"/>
                </a:solidFill>
                <a:latin typeface="Plus Jakarta Sans"/>
              </a:rPr>
              <a:t> Thực thi lệnh gọi DB và API ngoài.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7825" y="3086100"/>
            <a:ext cx="2143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BỘ NÃO TRONG BÌNH KÍNH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7825" y="3257550"/>
            <a:ext cx="225028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Space Grotesk"/>
              </a:rPr>
              <a:t>Mô hình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1425" y="3076575"/>
            <a:ext cx="2738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DBA74"/>
                </a:solidFill>
                <a:latin typeface="Plus Jakarta Sans"/>
              </a:rPr>
              <a:t>PHẦN MỀM ĐIỀU PHỐI BỌC NGOÀI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1425" y="3248025"/>
            <a:ext cx="2875359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Space Grotesk"/>
              </a:rPr>
              <a:t>Agent Harness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PHẦN 1 • BÀI TOÁN TÍCH HỢP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Cơn ác mộng tích hợp: Ma trận M × N Glue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10972800" cy="49911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6325" y="3552825"/>
            <a:ext cx="10039350" cy="714375"/>
          </a:xfrm>
          <a:prstGeom prst="roundRect">
            <a:avLst>
              <a:gd name="adj" fmla="val 18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31900" y="1762125"/>
            <a:ext cx="2095500" cy="533400"/>
          </a:xfrm>
          <a:prstGeom prst="roundRect">
            <a:avLst>
              <a:gd name="adj" fmla="val 2142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38551" y="1762125"/>
            <a:ext cx="2352675" cy="533400"/>
          </a:xfrm>
          <a:prstGeom prst="roundRect">
            <a:avLst>
              <a:gd name="adj" fmla="val 2142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02376" y="1762125"/>
            <a:ext cx="2257425" cy="533400"/>
          </a:xfrm>
          <a:prstGeom prst="roundRect">
            <a:avLst>
              <a:gd name="adj" fmla="val 2142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22821" y="5524500"/>
            <a:ext cx="1752600" cy="523875"/>
          </a:xfrm>
          <a:prstGeom prst="roundRect">
            <a:avLst>
              <a:gd name="adj" fmla="val 21818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68415" y="5524500"/>
            <a:ext cx="1295400" cy="523875"/>
          </a:xfrm>
          <a:prstGeom prst="roundRect">
            <a:avLst>
              <a:gd name="adj" fmla="val 21818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6809" y="5524500"/>
            <a:ext cx="1323975" cy="523875"/>
          </a:xfrm>
          <a:prstGeom prst="roundRect">
            <a:avLst>
              <a:gd name="adj" fmla="val 21818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73778" y="5524500"/>
            <a:ext cx="1295400" cy="523875"/>
          </a:xfrm>
          <a:prstGeom prst="roundRect">
            <a:avLst>
              <a:gd name="adj" fmla="val 21818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725" y="2809875"/>
            <a:ext cx="1714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126" y="2809875"/>
            <a:ext cx="1714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526" y="2809875"/>
            <a:ext cx="1714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112" y="3776662"/>
            <a:ext cx="3048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518" y="4781550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356" y="4781550"/>
            <a:ext cx="1714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193" y="4781550"/>
            <a:ext cx="1714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5031" y="4781550"/>
            <a:ext cx="1714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600" y="1938337"/>
            <a:ext cx="180975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251" y="1938337"/>
            <a:ext cx="22860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076" y="1938337"/>
            <a:ext cx="20002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0471" y="5715000"/>
            <a:ext cx="1524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6065" y="5715000"/>
            <a:ext cx="219075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4459" y="5715000"/>
            <a:ext cx="161925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1428" y="5715000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PHẦN 1 • GIẢI PHÁP CHUẨN HÓA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Giải pháp MCP: Biến ma trận M × N thành M + 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5222" y="3762375"/>
            <a:ext cx="1003875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Space Grotesk"/>
              </a:rPr>
              <a:t>CHUẨN GIAO TIẾP CHUNG: MODEL CONTEXT PROTOCOL (USB-C CHO 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4825" y="1914525"/>
            <a:ext cx="1607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FFFFF"/>
                </a:solidFill>
                <a:latin typeface="Plus Jakarta Sans"/>
              </a:rPr>
              <a:t>Chatbot CSKH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9101" y="1914525"/>
            <a:ext cx="18692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FFFFF"/>
                </a:solidFill>
                <a:latin typeface="Plus Jakarta Sans"/>
              </a:rPr>
              <a:t>VS Code / Cursor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4351" y="1914525"/>
            <a:ext cx="1785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FFFFF"/>
                </a:solidFill>
                <a:latin typeface="Plus Jakarta Sans"/>
              </a:rPr>
              <a:t>Claude Desktop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99071" y="5676900"/>
            <a:ext cx="13144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PostgreSQL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1340" y="5676900"/>
            <a:ext cx="790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Stripe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584" y="5676900"/>
            <a:ext cx="876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GitHub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9078" y="5676900"/>
            <a:ext cx="838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076825"/>
            <a:ext cx="10972800" cy="590550"/>
          </a:xfrm>
          <a:prstGeom prst="roundRect">
            <a:avLst>
              <a:gd name="adj" fmla="val 19354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5257800"/>
            <a:ext cx="17145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229100"/>
            <a:ext cx="180975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228975"/>
            <a:ext cx="13335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228975"/>
            <a:ext cx="1333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229100"/>
            <a:ext cx="180975" cy="1809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9600" y="2143125"/>
            <a:ext cx="10972800" cy="2667000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600" y="2143125"/>
          <a:ext cx="10963273" cy="26670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31132"/>
                <a:gridCol w="4165996"/>
                <a:gridCol w="4166145"/>
              </a:tblGrid>
              <a:tr h="88900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Tiêu chí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HTTP / REST API truyền thống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Giao thức MCP (Smart Adapter)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1. Định dạng phản hồi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Human-Speak:</a:t>
                      </a:r>
                      <a:r>
                        <a:rPr b="0" sz="14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K8s trả về 500 dòng JSON thô làm tràn Context và gây Hallucination.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AI-Speak:</a:t>
                      </a:r>
                      <a:r>
                        <a:rPr b="1" sz="14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 Lọc gọn thành </a:t>
                      </a:r>
                      <a:r>
                        <a:rPr b="1" sz="1425" i="1" u="none">
                          <a:solidFill>
                            <a:srgbClr val="0369A1"/>
                          </a:solidFill>
                          <a:latin typeface="Plus Jakarta Sans"/>
                        </a:rPr>
                        <a:t>"Pod my-app running, 3/3 ready, uptime 2h"</a:t>
                      </a:r>
                      <a:r>
                        <a:rPr b="1" sz="14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2. Cơ chế khám phá</a:t>
                      </a:r>
                    </a:p>
                  </a:txBody>
                  <a:tcPr anchor="ctr" marL="3905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Tĩnh (Thực đơn in sẵn):</a:t>
                      </a:r>
                      <a:r>
                        <a:rPr b="0" sz="14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Phải đọc tài liệu và hardcode từng endpoint vào code.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Động (Người phục vụ):</a:t>
                      </a:r>
                      <a:r>
                        <a:rPr b="1" sz="14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 Tự động hỏi danh sách công cụ lúc chạy (Runtime).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PHẦN 1 • SO SÁNH BẢN CHẤT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Khác biệt giữa HTTP API và MCP (Phần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" y="5257800"/>
            <a:ext cx="1037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9A3412"/>
                </a:solidFill>
                <a:latin typeface="Plus Jakarta Sans"/>
              </a:rPr>
              <a:t>MCP không thay thế REST API gốc — MCP đứng trước API để thay thế lớp Glue Code kết nối với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505200"/>
            <a:ext cx="180975" cy="180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695825"/>
            <a:ext cx="22860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505200"/>
            <a:ext cx="180975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695825"/>
            <a:ext cx="228600" cy="18097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" y="2495550"/>
            <a:ext cx="10972800" cy="28194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2495550"/>
          <a:ext cx="10963273" cy="2819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31132"/>
                <a:gridCol w="4165996"/>
                <a:gridCol w="4166145"/>
              </a:tblGrid>
              <a:tr h="93980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Tiêu chí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HTTP / REST API truyền thống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Mô hình Agent Harness + MCP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3. Bảo mật khóa (Secrets)</a:t>
                      </a:r>
                    </a:p>
                  </a:txBody>
                  <a:tcPr anchor="ctr" marL="3905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Ứng dụng AI phải trực tiếp lưu giữ API Keys và mật khẩu DB của mọi dịch vụ.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Cô lập tuyệt đối:</a:t>
                      </a:r>
                      <a:r>
                        <a:rPr b="1" sz="14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 Khóa bảo mật nằm kín phía công cụ, LLM không bao giờ thấy.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4. Phối hợp đa bước</a:t>
                      </a:r>
                    </a:p>
                  </a:txBody>
                  <a:tcPr anchor="ctr" marL="4381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Lập trình viên phải viết code hứng biến từ API 1 truyền thủ công sang API 2, 3.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Tự động xâu chuỗi:</a:t>
                      </a:r>
                      <a:r>
                        <a:rPr b="1" sz="1425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 Harness giữ kết quả bước trước để LLM tự gọi bước tiếp theo.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PHẦN 1 • SO SÁNH BẢN CHẤT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Khác biệt giữa HTTP API và MCP (Phần 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71600"/>
            <a:ext cx="10972800" cy="19812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267325"/>
            <a:ext cx="3505200" cy="1133475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5267325"/>
            <a:ext cx="3505200" cy="1133475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5267325"/>
            <a:ext cx="3505200" cy="1133475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3450" y="2362200"/>
            <a:ext cx="3289250" cy="742950"/>
          </a:xfrm>
          <a:prstGeom prst="roundRect">
            <a:avLst>
              <a:gd name="adj" fmla="val 15384"/>
            </a:avLst>
          </a:prstGeom>
          <a:solidFill>
            <a:srgbClr val="E0F2FE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51300" y="2362200"/>
            <a:ext cx="3289250" cy="742950"/>
          </a:xfrm>
          <a:prstGeom prst="roundRect">
            <a:avLst>
              <a:gd name="adj" fmla="val 15384"/>
            </a:avLst>
          </a:prstGeom>
          <a:solidFill>
            <a:srgbClr val="E0F2FE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69150" y="2362200"/>
            <a:ext cx="3289250" cy="742950"/>
          </a:xfrm>
          <a:prstGeom prst="roundRect">
            <a:avLst>
              <a:gd name="adj" fmla="val 15384"/>
            </a:avLst>
          </a:prstGeom>
          <a:solidFill>
            <a:srgbClr val="E0F2FE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3450" y="1619250"/>
            <a:ext cx="1255216" cy="552450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4229100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4229100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350" y="4229100"/>
            <a:ext cx="952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PHẦN 2 • KIẾN TRÚC HỆ THỐNG (SPEC 2026-07-28)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Kiến trúc 3 Thực thể: MCP Host, Client và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150" y="4210050"/>
            <a:ext cx="2143125" cy="20002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Đường truyền 1-1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750" y="4210050"/>
            <a:ext cx="2143125" cy="20002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Đường truyền 1-1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6350" y="4210050"/>
            <a:ext cx="2143125" cy="20002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Đường truyền 1-1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7410" y="1695450"/>
            <a:ext cx="230638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Giữ lịch sử chat &amp; điều phối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387" y="5476875"/>
            <a:ext cx="3857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8BDF8"/>
                </a:solidFill>
                <a:latin typeface="JetBrains Mono"/>
              </a:rPr>
              <a:t>3. MCP SERVER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946" y="5705475"/>
            <a:ext cx="40505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Space Grotesk"/>
              </a:rPr>
              <a:t>Filesystem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387" y="6010275"/>
            <a:ext cx="3857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Đọc/ghi file cục bộ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7187" y="5476875"/>
            <a:ext cx="3857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8BDF8"/>
                </a:solidFill>
                <a:latin typeface="JetBrains Mono"/>
              </a:rPr>
              <a:t>3. MCP SERVER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0746" y="5705475"/>
            <a:ext cx="40505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Space Grotesk"/>
              </a:rPr>
              <a:t>PostgreSQL 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7187" y="6010275"/>
            <a:ext cx="3857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Truy vấn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0987" y="5476875"/>
            <a:ext cx="3857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97316"/>
                </a:solidFill>
                <a:latin typeface="JetBrains Mono"/>
              </a:rPr>
              <a:t>3. MCP SERVER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4546" y="5705475"/>
            <a:ext cx="40505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Space Grotesk"/>
              </a:rPr>
              <a:t>Sentry 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987" y="6010275"/>
            <a:ext cx="3857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Giám sát lỗi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800" y="1676400"/>
            <a:ext cx="1083766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Space Grotesk"/>
              </a:rPr>
              <a:t>1. MCP HOST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2966" y="1628775"/>
            <a:ext cx="7181678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Ứng dụng AI trung tâm (VS Code, Claude Desktop, Custom Backend)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606" y="2533650"/>
            <a:ext cx="3682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369A1"/>
                </a:solidFill>
                <a:latin typeface="Plus Jakarta Sans"/>
              </a:rPr>
              <a:t>2. MCP CLIENT #1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606" y="2752725"/>
            <a:ext cx="3682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0284C7"/>
                </a:solidFill>
                <a:latin typeface="Plus Jakarta Sans"/>
              </a:rPr>
              <a:t>Kết nối chuyên biệt 1-1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4456" y="2533650"/>
            <a:ext cx="3682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369A1"/>
                </a:solidFill>
                <a:latin typeface="Plus Jakarta Sans"/>
              </a:rPr>
              <a:t>2. MCP CLIENT #2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4456" y="2752725"/>
            <a:ext cx="3682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0284C7"/>
                </a:solidFill>
                <a:latin typeface="Plus Jakarta Sans"/>
              </a:rPr>
              <a:t>Kết nối chuyên biệt 1-1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306" y="2533650"/>
            <a:ext cx="3682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369A1"/>
                </a:solidFill>
                <a:latin typeface="Plus Jakarta Sans"/>
              </a:rPr>
              <a:t>2. MCP CLIENT #3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306" y="2752725"/>
            <a:ext cx="3682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0284C7"/>
                </a:solidFill>
                <a:latin typeface="Plus Jakarta Sans"/>
              </a:rPr>
              <a:t>Kết nối chuyên biệt 1-1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7450"/>
            <a:ext cx="5334000" cy="29337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457450"/>
            <a:ext cx="5334000" cy="29337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2025" y="3533775"/>
            <a:ext cx="4629150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00825" y="3533775"/>
            <a:ext cx="4629150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809875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809875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62" y="2952750"/>
            <a:ext cx="3143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0362" y="2952750"/>
            <a:ext cx="3143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500562"/>
            <a:ext cx="1619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4843462"/>
            <a:ext cx="2286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825" y="4500562"/>
            <a:ext cx="2286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4843462"/>
            <a:ext cx="1809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PHẦN 2 • MÔ HÌNH TRIỂN KHAI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MCP Server chạy ở đâu? Local vs. Remote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831" y="3705225"/>
            <a:ext cx="54435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F172A"/>
                </a:solidFill>
                <a:latin typeface="JetBrains Mono"/>
              </a:rPr>
              <a:t>[MCP Client] ──(STDIO 1-1)──► [Docker / Process]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3631" y="3705225"/>
            <a:ext cx="54435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F172A"/>
                </a:solidFill>
                <a:latin typeface="JetBrains Mono"/>
              </a:rPr>
              <a:t>[Nhiều Clients] ──(Streamable HTTP)──► [Cloud Server]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467225"/>
            <a:ext cx="5786437" cy="228600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Plus Jakarta Sans"/>
              </a:rPr>
              <a:t>Độ trễ bằng 0: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Giao tiếp trực tiếp qua hệ điều hành.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4810125"/>
            <a:ext cx="5786437" cy="228600"/>
          </a:xfrm>
          <a:prstGeom prst="rect">
            <a:avLst/>
          </a:prstGeom>
          <a:noFill/>
        </p:spPr>
        <p:txBody>
          <a:bodyPr wrap="none" lIns="3238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Plus Jakarta Sans"/>
              </a:rPr>
              <a:t>Phục vụ 1 Client: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Tự bật/tắt theo vòng đời 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825" y="4467225"/>
            <a:ext cx="5591175" cy="228600"/>
          </a:xfrm>
          <a:prstGeom prst="rect">
            <a:avLst/>
          </a:prstGeom>
          <a:noFill/>
        </p:spPr>
        <p:txBody>
          <a:bodyPr wrap="none" lIns="3238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Plus Jakarta Sans"/>
              </a:rPr>
              <a:t>Đa người dùng: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Phục vụ hàng nghìn Client cùng lúc.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825" y="4810125"/>
            <a:ext cx="5591175" cy="22860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Plus Jakarta Sans"/>
              </a:rPr>
              <a:t>Xác thực chuẩn: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Hỗ trợ OAuth, Bearer Token.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7825" y="2828925"/>
            <a:ext cx="2583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CHẠY CÙNG MÁY VỚI HOST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7825" y="3000375"/>
            <a:ext cx="2712839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Space Grotesk"/>
              </a:rPr>
              <a:t>Local MCP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6625" y="2828925"/>
            <a:ext cx="2928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CHẠY TRÊN CLOUD / NỘI BỘ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6625" y="3000375"/>
            <a:ext cx="3075384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Space Grotesk"/>
              </a:rPr>
              <a:t>Remote MCP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33500"/>
            <a:ext cx="10972800" cy="885825"/>
          </a:xfrm>
          <a:prstGeom prst="roundRect">
            <a:avLst>
              <a:gd name="adj" fmla="val 15053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19462"/>
            <a:ext cx="10972800" cy="1095375"/>
          </a:xfrm>
          <a:prstGeom prst="roundRect">
            <a:avLst>
              <a:gd name="adj" fmla="val 1391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514975"/>
            <a:ext cx="10972800" cy="885825"/>
          </a:xfrm>
          <a:prstGeom prst="roundRect">
            <a:avLst>
              <a:gd name="adj" fmla="val 15053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19850" y="1581150"/>
            <a:ext cx="487680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34350" y="3652837"/>
            <a:ext cx="3143250" cy="428625"/>
          </a:xfrm>
          <a:prstGeom prst="roundRect">
            <a:avLst>
              <a:gd name="adj" fmla="val 22222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05600" y="5762625"/>
            <a:ext cx="459105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5350" y="1524000"/>
            <a:ext cx="1962150" cy="22860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50" y="5705475"/>
            <a:ext cx="1990725" cy="22860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90650" y="3567112"/>
            <a:ext cx="2781300" cy="228600"/>
          </a:xfrm>
          <a:prstGeom prst="roundRect">
            <a:avLst>
              <a:gd name="adj" fmla="val 25000"/>
            </a:avLst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76650"/>
            <a:ext cx="28575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PHẦN 2 • BẢN ĐỒ RANH GIỚI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Đoạn nào là MCP? Đoạn nào KHÔNG phải?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1676400"/>
            <a:ext cx="466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JetBrains Mono"/>
              </a:rPr>
              <a:t>Dùng SDK/API riêng của OpenAI, Anthropic, 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857875"/>
            <a:ext cx="438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JetBrains Mono"/>
              </a:rPr>
              <a:t>Dùng SQL TCP/IP (Port 5432) hoặc REST API gốc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156210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VÙNG 1: NGOÀI PHẠM VI 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1781175"/>
            <a:ext cx="5800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Bên trong MCP Host: Bộ điều phối ⇄ Mô hình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4287" y="3767137"/>
            <a:ext cx="345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FFFFFF"/>
                </a:solidFill>
                <a:latin typeface="JetBrains Mono"/>
              </a:rPr>
              <a:t>JSON-RPC 2.0 qua STDIO / HTTP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5743575"/>
            <a:ext cx="1895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VÙNG 3: NGOÀI PHẠM VI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5962650"/>
            <a:ext cx="635079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Từ MCP Server ⇄ Hệ thống gốc (PostgreSQL / Sentry)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5900" y="3605212"/>
            <a:ext cx="2686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VÙNG 2: RANH GIỚI CHÍNH THỨC CỦA 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0650" y="3843337"/>
            <a:ext cx="625078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Space Grotesk"/>
              </a:rPr>
              <a:t>Đường dây nối MCP Client ⇄ MCP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52700"/>
            <a:ext cx="5343525" cy="2705100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262187"/>
            <a:ext cx="5324475" cy="3286125"/>
          </a:xfrm>
          <a:prstGeom prst="roundRect">
            <a:avLst>
              <a:gd name="adj" fmla="val 463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3286125"/>
            <a:ext cx="4714875" cy="914400"/>
          </a:xfrm>
          <a:prstGeom prst="roundRect">
            <a:avLst>
              <a:gd name="adj" fmla="val 1041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2986087"/>
            <a:ext cx="4714875" cy="1295400"/>
          </a:xfrm>
          <a:prstGeom prst="roundRect">
            <a:avLst>
              <a:gd name="adj" fmla="val 73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95600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595562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424362"/>
            <a:ext cx="12382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757737"/>
            <a:ext cx="12382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4505325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5057775"/>
            <a:ext cx="15240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PHẦN 3 • BÊN TRONG ĐƯỜNG DÂY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Tại sao MCP chọn JSON-RPC 2.0 thay vì REST API?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2867025"/>
            <a:ext cx="6188273" cy="266700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DC2626"/>
                </a:solidFill>
                <a:latin typeface="Space Grotesk"/>
              </a:rPr>
              <a:t>REST API (Trói chặt vào HTTP)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3457575"/>
            <a:ext cx="44672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JetBrains Mono"/>
              </a:rPr>
              <a:t>GET /repos/org/api/issues/42 HTTP/1.1 Host: api.github.com Authorization: Bearer ghp_xxx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2566987"/>
            <a:ext cx="5629275" cy="266700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JSON-RPC 2.0 (Chuẩn của MCP)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175" y="3157537"/>
            <a:ext cx="4467225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JetBrains Mono"/>
              </a:rPr>
              <a:t>{ "jsonrpc": "2.0", "id": 1, "method": "tools/call", "params": { "name": "get_issue", "id": 42 }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391025"/>
            <a:ext cx="5893593" cy="2190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lus Jakarta Sans"/>
              </a:rPr>
              <a:t>Phụ thuộc HTTP: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Ống STDIO không có URL hay Header.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4724400"/>
            <a:ext cx="5893593" cy="2190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lus Jakarta Sans"/>
              </a:rPr>
              <a:t>Một chiều: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Server khó chủ động gọi ngược về Client.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4471987"/>
            <a:ext cx="4810125" cy="4381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Plus Jakarta Sans"/>
              </a:rPr>
              <a:t>Độc lập đường truyền: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Chạy mượt trên cả STDIO và HTTP.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5024437"/>
            <a:ext cx="5629275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Plus Jakarta Sans"/>
              </a:rPr>
              <a:t>Gọi 2 chiều: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Server chủ động bắn thông báo &amp; hỏi User.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66937"/>
            <a:ext cx="10972800" cy="3438525"/>
          </a:xfrm>
          <a:prstGeom prst="roundRect">
            <a:avLst>
              <a:gd name="adj" fmla="val 554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3252787"/>
            <a:ext cx="10363200" cy="2047875"/>
          </a:xfrm>
          <a:prstGeom prst="roundRect">
            <a:avLst>
              <a:gd name="adj" fmla="val 65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74755" y="2500312"/>
            <a:ext cx="2250132" cy="5334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39187" y="2500312"/>
            <a:ext cx="2538412" cy="5334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34400" y="3519487"/>
            <a:ext cx="2438400" cy="28575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19200" y="3976687"/>
            <a:ext cx="312420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33900" y="3976687"/>
            <a:ext cx="312420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48600" y="3976687"/>
            <a:ext cx="312420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33662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557587"/>
            <a:ext cx="26670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PHẦN 3 • CẤU TRÚC 2 TẦNG GIAO THỨC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Giải phẫu 2 Tầng Giao Thức (Spec 2026-07-28)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471737"/>
            <a:ext cx="5433335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Space Grotesk"/>
              </a:rPr>
              <a:t>TẦNG NGOÀI: TRANSPORT LAYER (Phong bì vận chuyển)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7155" y="2576512"/>
            <a:ext cx="204058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JetBrains Mono"/>
              </a:rPr>
              <a:t>Local: STDIO (stdin/stdout)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1587" y="2576512"/>
            <a:ext cx="23288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DBA74"/>
                </a:solidFill>
                <a:latin typeface="JetBrains Mono"/>
              </a:rPr>
              <a:t>Remote: Streamable HTTP + OAuth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529012"/>
            <a:ext cx="8613576" cy="266700"/>
          </a:xfrm>
          <a:prstGeom prst="rect">
            <a:avLst/>
          </a:prstGeom>
          <a:noFill/>
        </p:spPr>
        <p:txBody>
          <a:bodyPr wrap="none" lIns="3619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TẦNG TRONG: DATA LAYER (Ruột thư JSON-RPC 2.0 Stateless)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8700" y="3576637"/>
            <a:ext cx="2305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JetBrains Mono"/>
              </a:rPr>
              <a:t>protocolVersion: "2026-07-28"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0175" y="4157662"/>
            <a:ext cx="362545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Stateless </a:t>
            </a:r>
            <a:r>
              <a:rPr b="1" sz="1350" i="0" u="none">
                <a:solidFill>
                  <a:srgbClr val="0F172A"/>
                </a:solidFill>
                <a:latin typeface="Plus Jakarta Sans"/>
              </a:rPr>
              <a:t>_meta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0175" y="4443412"/>
            <a:ext cx="2857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Mỗi gói tin tự mang version và capabilities riêng.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4875" y="4157662"/>
            <a:ext cx="362545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</a:t>
            </a:r>
            <a:r>
              <a:rPr b="1" sz="1350" i="0" u="none">
                <a:solidFill>
                  <a:srgbClr val="0F172A"/>
                </a:solidFill>
                <a:latin typeface="Plus Jakarta Sans"/>
              </a:rPr>
              <a:t>server/discover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4875" y="4443412"/>
            <a:ext cx="28575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Khám phá năng lực Server và lưu Cache (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ttlMs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9575" y="4157662"/>
            <a:ext cx="36254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Primitives &amp; Notify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9575" y="4433887"/>
            <a:ext cx="28575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Trao đổi Tools, Resources, Prompts và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subscriptions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29300"/>
            <a:ext cx="10972800" cy="571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09700"/>
            <a:ext cx="2605087" cy="1990725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5187" y="1414462"/>
            <a:ext cx="2605087" cy="198120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00775" y="1414462"/>
            <a:ext cx="2605087" cy="198120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96362" y="1423987"/>
            <a:ext cx="2586037" cy="1962150"/>
          </a:xfrm>
          <a:prstGeom prst="roundRect">
            <a:avLst>
              <a:gd name="adj" fmla="val 67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38850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1733550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262" y="1738312"/>
            <a:ext cx="3048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0" y="1738312"/>
            <a:ext cx="3048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5912" y="1738312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PHẦN 3 • NGUYÊN HÀM NGỮ CẢNH (PRIMITIVES)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4 Khả năng cốt lõi trong MCP: Không chỉ có Tools!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6000750"/>
            <a:ext cx="8405812" cy="2286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Cập nhật Spec 2026-07-28: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Sampling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 và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Logging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 đã chính thức Deprecated.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2050" y="6019800"/>
            <a:ext cx="3214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JetBrains Mono"/>
              </a:rPr>
              <a:t>Sử dụng OpenTelemetry / stderr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2133600"/>
            <a:ext cx="270867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SERVER PRIMITIVE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2333625"/>
            <a:ext cx="284410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2695575"/>
            <a:ext cx="226218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Hàm thực thi hành động: 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tools/call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4262" y="2138362"/>
            <a:ext cx="270867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SERVER PRIMITIVE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4262" y="2338387"/>
            <a:ext cx="284410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4262" y="2700337"/>
            <a:ext cx="2262187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Dữ liệu đọc thêm: File code, DB Schema.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2138362"/>
            <a:ext cx="270867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SERVER PRIMITIVE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850" y="2338387"/>
            <a:ext cx="284410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2700337"/>
            <a:ext cx="2262187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Mẫu câu lệnh chuẩn hóa đóng gói sẵn.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5912" y="2138362"/>
            <a:ext cx="270867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DBA74"/>
                </a:solidFill>
                <a:latin typeface="JetBrains Mono"/>
              </a:rPr>
              <a:t>CLIENT PRIMITIVE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5912" y="2338387"/>
            <a:ext cx="284410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Space Grotesk"/>
              </a:rPr>
              <a:t>Elicitation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5912" y="2700337"/>
            <a:ext cx="2262187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Plus Jakarta Sans"/>
              </a:rPr>
              <a:t>Server bật hộp thoại hỏi xác nhận từ User.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71600"/>
            <a:ext cx="10972800" cy="2705100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00725"/>
            <a:ext cx="10972800" cy="600075"/>
          </a:xfrm>
          <a:prstGeom prst="roundRect">
            <a:avLst>
              <a:gd name="adj" fmla="val 190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1685925"/>
            <a:ext cx="3091457" cy="2076450"/>
          </a:xfrm>
          <a:prstGeom prst="roundRect">
            <a:avLst>
              <a:gd name="adj" fmla="val 64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63182" y="1800225"/>
            <a:ext cx="3093392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08666" y="2143125"/>
            <a:ext cx="1459557" cy="1162050"/>
          </a:xfrm>
          <a:prstGeom prst="roundRect">
            <a:avLst>
              <a:gd name="adj" fmla="val 1147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52525" y="1924050"/>
            <a:ext cx="885825" cy="219075"/>
          </a:xfrm>
          <a:prstGeom prst="roundRect">
            <a:avLst>
              <a:gd name="adj" fmla="val 17391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2525" y="2867025"/>
            <a:ext cx="2634257" cy="66675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7782" y="2705100"/>
            <a:ext cx="1143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10832" y="2057400"/>
            <a:ext cx="1009650" cy="219075"/>
          </a:xfrm>
          <a:prstGeom prst="roundRect">
            <a:avLst>
              <a:gd name="adj" fmla="val 17391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3921" y="2619375"/>
            <a:ext cx="85725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108" y="2371725"/>
            <a:ext cx="390525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PHẦN 4 • CASE STUDY THỰC TIỄN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Giải phẫu GitHub MCP trên máy Lập trình viên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214312" y="5972175"/>
            <a:ext cx="126206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369A1"/>
                </a:solidFill>
                <a:latin typeface="Plus Jakarta Sans"/>
              </a:rPr>
              <a:t>Bạn KHÔNG cần code Host, Client hay Server — Việc duy nhất là khai báo file </a:t>
            </a:r>
            <a:r>
              <a:rPr b="1" sz="1500" i="0" u="none">
                <a:solidFill>
                  <a:srgbClr val="0369A1"/>
                </a:solidFill>
                <a:latin typeface="Plus Jakarta Sans"/>
              </a:rPr>
              <a:t>.vscode/mcp.json</a:t>
            </a:r>
            <a:r>
              <a:rPr b="1" sz="1500" i="0" u="none">
                <a:solidFill>
                  <a:srgbClr val="0369A1"/>
                </a:solidFill>
                <a:latin typeface="Plus Jakarta Sans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8725" y="1962150"/>
            <a:ext cx="828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1. MCP 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2209800"/>
            <a:ext cx="345746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Space Grotesk"/>
              </a:rPr>
              <a:t>Phần mềm VS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2514600"/>
            <a:ext cx="32928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Microsoft đã viết sẵn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2082" y="2457450"/>
            <a:ext cx="1200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JSON-RPC 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470" y="2819400"/>
            <a:ext cx="1095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STDIO / HTTP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7032" y="2095500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8FAFC"/>
                </a:solidFill>
                <a:latin typeface="Plus Jakarta Sans"/>
              </a:rPr>
              <a:t>3. MCP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0832" y="2343150"/>
            <a:ext cx="34099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github-mcp-server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0832" y="2647950"/>
            <a:ext cx="324761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GitHub viết sẵn bằng 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446" y="2371725"/>
            <a:ext cx="1123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JetBrains Mono"/>
              </a:rPr>
              <a:t>HTTPS + PAT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8975" y="2733675"/>
            <a:ext cx="104254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REST / GraphQL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0635" y="2867025"/>
            <a:ext cx="1515619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FFFFF"/>
                </a:solidFill>
                <a:latin typeface="Plus Jakarta Sans"/>
              </a:rPr>
              <a:t>GitHub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5400" y="3009900"/>
            <a:ext cx="29356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2. MCP Client (Module ngầm)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5400" y="3209925"/>
            <a:ext cx="293563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Tự khởi tạo khi đọc 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mcp.json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0832" y="2981325"/>
            <a:ext cx="324761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JetBrains Mono"/>
              </a:rPr>
              <a:t>🛠️ get_issue / create_pr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0832" y="3228975"/>
            <a:ext cx="324761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JetBrains Mono"/>
              </a:rPr>
              <a:t>📚 repo://branch/README.md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71675"/>
            <a:ext cx="6636990" cy="3848100"/>
          </a:xfrm>
          <a:prstGeom prst="roundRect">
            <a:avLst>
              <a:gd name="adj" fmla="val 396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13290" y="1962150"/>
            <a:ext cx="4069109" cy="752475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13290" y="2867025"/>
            <a:ext cx="4069109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13290" y="3971925"/>
            <a:ext cx="4069109" cy="752475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13290" y="4876800"/>
            <a:ext cx="4069109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PHẦN 4 • CẤU HÌNH THỰC TẾ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Mổ xẻ file </a:t>
            </a:r>
            <a:r>
              <a:rPr b="1" sz="2700" i="0" u="none">
                <a:solidFill>
                  <a:srgbClr val="0F172A"/>
                </a:solidFill>
                <a:latin typeface="Space Grotesk"/>
              </a:rPr>
              <a:t>.vscode/mcp.json</a:t>
            </a:r>
            <a:r>
              <a:rPr b="1" sz="2700" i="0" u="none">
                <a:solidFill>
                  <a:srgbClr val="0F172A"/>
                </a:solidFill>
                <a:latin typeface="Space Grotesk"/>
              </a:rPr>
              <a:t> của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238375"/>
            <a:ext cx="6198840" cy="331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Plus Jakarta Sans"/>
              </a:rPr>
              <a:t>{ "mcpServers": { "github-local": { "type": "stdio", "command": "docker", "args": ["run", "-i", "--rm", "ghcr.io/github/github-mcp-server", "--toolsets=issues,pull_requests"], "env": { "GITHUB_PERSONAL_ACCESS_TOKEN": "ghp_xxxx..." } }, "github-remote": { "type": "http", "url": "https://api.githubcopilot.com/mcp/", "headers": { "X-MCP-Readonly": "true" } } }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238375"/>
            <a:ext cx="6198840" cy="331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F8FAFC"/>
                </a:solidFill>
                <a:latin typeface="JetBrains Mono"/>
              </a:rPr>
              <a:t>{ "mcpServers": { "github-local": { "type": "stdio", "command": "docker", "args": ["run", "-i", "--rm", "ghcr.io/github/github-mcp-server", "--toolsets=issues,pull_requests"], "env": { "GITHUB_PERSONAL_ACCESS_TOKEN": "ghp_xxxx..." } }, "github-remote": { "type": "http", "url": "https://api.githubcopilot.com/mcp/", "headers": { "X-MCP-Readonly": "true" } } }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3315" y="2124075"/>
            <a:ext cx="44786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1. Chọn tầng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3315" y="2343150"/>
            <a:ext cx="447868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Đổi linh hoạt giữa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stdio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(Docker) và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http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(Cloud).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3315" y="3028950"/>
            <a:ext cx="44786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Plus Jakarta Sans"/>
              </a:rPr>
              <a:t>2. Cô lập Token tại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3315" y="3248025"/>
            <a:ext cx="3764309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Biến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env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giữ kín PAT trong container, LLM không thấy.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3315" y="4133850"/>
            <a:ext cx="44786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A580C"/>
                </a:solidFill>
                <a:latin typeface="Plus Jakarta Sans"/>
              </a:rPr>
              <a:t>3. Chống Context Bloat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3315" y="4352925"/>
            <a:ext cx="447868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--toolsets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chỉ nạp đúng nhóm hàm cần dùng.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3315" y="5038725"/>
            <a:ext cx="44786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Plus Jakarta Sans"/>
              </a:rPr>
              <a:t>4. Khóa quyền Ghi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3315" y="5257800"/>
            <a:ext cx="3764309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X-MCP-Readonly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chặn mọi thao tác sửa/xóa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76475"/>
            <a:ext cx="3282999" cy="1514475"/>
          </a:xfrm>
          <a:prstGeom prst="roundRect">
            <a:avLst>
              <a:gd name="adj" fmla="val 880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54574" y="2276475"/>
            <a:ext cx="3282999" cy="1514475"/>
          </a:xfrm>
          <a:prstGeom prst="roundRect">
            <a:avLst>
              <a:gd name="adj" fmla="val 880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99549" y="2271712"/>
            <a:ext cx="3282999" cy="1524000"/>
          </a:xfrm>
          <a:prstGeom prst="roundRect">
            <a:avLst>
              <a:gd name="adj" fmla="val 875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995737"/>
            <a:ext cx="3295650" cy="1533525"/>
          </a:xfrm>
          <a:prstGeom prst="roundRect">
            <a:avLst>
              <a:gd name="adj" fmla="val 8695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67225" y="3986212"/>
            <a:ext cx="3295650" cy="1552575"/>
          </a:xfrm>
          <a:prstGeom prst="roundRect">
            <a:avLst>
              <a:gd name="adj" fmla="val 8588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4850" y="4014787"/>
            <a:ext cx="3257550" cy="1495425"/>
          </a:xfrm>
          <a:prstGeom prst="roundRect">
            <a:avLst>
              <a:gd name="adj" fmla="val 891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2486025"/>
            <a:ext cx="752475" cy="257175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92699" y="2486025"/>
            <a:ext cx="781050" cy="257175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37674" y="2481262"/>
            <a:ext cx="781050" cy="257175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7250" y="4214812"/>
            <a:ext cx="790575" cy="257175"/>
          </a:xfrm>
          <a:prstGeom prst="roundRect">
            <a:avLst>
              <a:gd name="adj" fmla="val 22222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14875" y="4205287"/>
            <a:ext cx="781050" cy="257175"/>
          </a:xfrm>
          <a:prstGeom prst="roundRect">
            <a:avLst>
              <a:gd name="adj" fmla="val 22222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53450" y="4214812"/>
            <a:ext cx="781050" cy="257175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099" y="2928937"/>
            <a:ext cx="18097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074" y="2928937"/>
            <a:ext cx="18097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0" y="4657725"/>
            <a:ext cx="18097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375" y="4657725"/>
            <a:ext cx="18097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PHẦN 4 • LUỒNG THỰC THI 6 BƯỚC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Trace thực tế: "Đọc Issue #42, tìm file lỗi và comment"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2524125"/>
            <a:ext cx="6191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BƯỚC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828925"/>
            <a:ext cx="368385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Khám phá (</a:t>
            </a:r>
            <a:r>
              <a:rPr b="1" sz="1500" i="0" u="none">
                <a:solidFill>
                  <a:srgbClr val="0F172A"/>
                </a:solidFill>
                <a:latin typeface="Space Grotesk"/>
              </a:rPr>
              <a:t>tools/list</a:t>
            </a:r>
            <a:r>
              <a:rPr b="1" sz="1500" i="0" u="none">
                <a:solidFill>
                  <a:srgbClr val="0F172A"/>
                </a:solidFill>
                <a:latin typeface="Space Grotesk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133725"/>
            <a:ext cx="290199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VS Code nạp danh sách hàm từ GitHub MCP Server lúc khởi động.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6999" y="2524125"/>
            <a:ext cx="647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BƯỚC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2699" y="2828925"/>
            <a:ext cx="368385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Đóng gói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2699" y="3133725"/>
            <a:ext cx="290199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Host gửi câu hỏi của Dev kèm danh sách Tool Schema lên LLM.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1974" y="2519362"/>
            <a:ext cx="647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BƯỚC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7674" y="2824162"/>
            <a:ext cx="36543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LLM trả về Intent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7674" y="3128962"/>
            <a:ext cx="29019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LLM quyết định yêu cầu gọi hàm 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get_issue(42)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550" y="4252912"/>
            <a:ext cx="6572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BƯỚC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" y="4557712"/>
            <a:ext cx="367545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Thực thi (</a:t>
            </a:r>
            <a:r>
              <a:rPr b="1" sz="1500" i="0" u="none">
                <a:solidFill>
                  <a:srgbClr val="0F172A"/>
                </a:solidFill>
                <a:latin typeface="Space Grotesk"/>
              </a:rPr>
              <a:t>tools/call</a:t>
            </a:r>
            <a:r>
              <a:rPr b="1" sz="1500" i="0" u="none">
                <a:solidFill>
                  <a:srgbClr val="0F172A"/>
                </a:solidFill>
                <a:latin typeface="Space Grotesk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50" y="4862512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GitHub Server lấy Token gọi API, lọc gọn: </a:t>
            </a:r>
            <a:r>
              <a:rPr b="0" sz="1275" i="1" u="none">
                <a:solidFill>
                  <a:srgbClr val="334155"/>
                </a:solidFill>
                <a:latin typeface="Plus Jakarta Sans"/>
              </a:rPr>
              <a:t>"Lỗi ở file tax.py"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9175" y="4243387"/>
            <a:ext cx="647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BƯỚC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4875" y="4548187"/>
            <a:ext cx="367545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Nối chuỗi tự động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4875" y="4852987"/>
            <a:ext cx="2895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Host lưu lịch sử; LLM đọc tiếp 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tax.py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và gọi 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add_comment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7750" y="4252912"/>
            <a:ext cx="647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BƯỚC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53450" y="4557712"/>
            <a:ext cx="36385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Hoàn tất &amp; Báo cáo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53450" y="4862512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Plus Jakarta Sans"/>
              </a:rPr>
              <a:t>Comment xuất hiện trên GitHub; IDE phản hồi kết quả cho Dev.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57412"/>
            <a:ext cx="10972800" cy="1781175"/>
          </a:xfrm>
          <a:prstGeom prst="roundRect">
            <a:avLst>
              <a:gd name="adj" fmla="val 855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70290" y="2628900"/>
            <a:ext cx="4907309" cy="8382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953000"/>
            <a:ext cx="3505200" cy="1447800"/>
          </a:xfrm>
          <a:prstGeom prst="roundRect">
            <a:avLst>
              <a:gd name="adj" fmla="val 921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4953000"/>
            <a:ext cx="3505200" cy="1447800"/>
          </a:xfrm>
          <a:prstGeom prst="roundRect">
            <a:avLst>
              <a:gd name="adj" fmla="val 921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4953000"/>
            <a:ext cx="3505200" cy="1447800"/>
          </a:xfrm>
          <a:prstGeom prst="roundRect">
            <a:avLst>
              <a:gd name="adj" fmla="val 921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386012"/>
            <a:ext cx="1838325" cy="2286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PHẦN 4 • CHIẾN LƯỢC PRODUCTION &amp; TỔNG KẾT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Kiến trúc Production &amp; 3 Cấp độ Áp dụng cho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2424112"/>
            <a:ext cx="1743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Plus Jakarta Sans"/>
              </a:rPr>
              <a:t>KIẾN TRÚC DOANH NGHIỆP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1287"/>
            <a:ext cx="650081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Space Grotesk"/>
              </a:rPr>
              <a:t>Internal Aggregator MCP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52762"/>
            <a:ext cx="50482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Gom DB, K8s, ERP về 1 Gateway tập trung. Nhúng cứng Business Policy &amp; Guardrails bằng code (cấm restart Pod giờ hành chính) thay vì dặn trong Prompt.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6990" y="2819400"/>
            <a:ext cx="54673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JetBrains Mono"/>
              </a:rPr>
              <a:t>Host ──► [Company MCP Gateway] ──► DB / K8s / ERP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6990" y="3086100"/>
            <a:ext cx="54673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JetBrains Mono"/>
              </a:rPr>
              <a:t>✓ 1 Auth Layer ✓ Audit Logs ✓ Hard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181600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CẤP ĐỘ 1 • SỬ DỤNG NGAY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429250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Viết </a:t>
            </a:r>
            <a:r>
              <a:rPr b="1" sz="1500" i="0" u="none">
                <a:solidFill>
                  <a:srgbClr val="FFFFFF"/>
                </a:solidFill>
                <a:latin typeface="Space Grotesk"/>
              </a:rPr>
              <a:t>mcp.json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753100"/>
            <a:ext cx="31432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94A3B8"/>
                </a:solidFill>
                <a:latin typeface="Plus Jakarta Sans"/>
              </a:rPr>
              <a:t>Cắm GitHub, Sentry, Postgres vào VS Code / Claude.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181600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97316"/>
                </a:solidFill>
                <a:latin typeface="JetBrains Mono"/>
              </a:rPr>
              <a:t>CẤP ĐỘ 2 • NỘI BỘ CÔNG 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429250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Code </a:t>
            </a:r>
            <a:r>
              <a:rPr b="1" sz="1500" i="0" u="none">
                <a:solidFill>
                  <a:srgbClr val="FFFFFF"/>
                </a:solidFill>
                <a:latin typeface="Space Grotesk"/>
              </a:rPr>
              <a:t>MCP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753100"/>
            <a:ext cx="31432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94A3B8"/>
                </a:solidFill>
                <a:latin typeface="Plus Jakarta Sans"/>
              </a:rPr>
              <a:t>Dùng FastMCP / TS SDK bọc các API và ERP nội bộ.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5181600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2C55E"/>
                </a:solidFill>
                <a:latin typeface="JetBrains Mono"/>
              </a:rPr>
              <a:t>CẤP ĐỘ 3 • LÀM SẢN PHẨM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5429250"/>
            <a:ext cx="388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Nhúng </a:t>
            </a:r>
            <a:r>
              <a:rPr b="1" sz="1500" i="0" u="none">
                <a:solidFill>
                  <a:srgbClr val="FFFFFF"/>
                </a:solidFill>
                <a:latin typeface="Space Grotesk"/>
              </a:rPr>
              <a:t>MCP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5753100"/>
            <a:ext cx="31432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94A3B8"/>
                </a:solidFill>
                <a:latin typeface="Plus Jakarta Sans"/>
              </a:rPr>
              <a:t>Tích hợp Client SDK vào Chatbot Backend của công 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